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3e8e729325496c" /><Relationship Type="http://schemas.openxmlformats.org/officeDocument/2006/relationships/extended-properties" Target="/docProps/app.xml" Id="R1434e77583764b59" /><Relationship Type="http://schemas.openxmlformats.org/officeDocument/2006/relationships/officeDocument" Target="/ppt/presentation.xml" Id="Re6d65d9e478e41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ab7d0636244298"/>
  </p:sldMasterIdLst>
  <p:notesMasterIdLst>
    <p:notesMasterId xmlns:r="http://schemas.openxmlformats.org/officeDocument/2006/relationships" r:id="Rc4a63f19a4de46fe"/>
  </p:notesMasterIdLst>
  <p:sldIdLst>
    <p:sldId xmlns:r="http://schemas.openxmlformats.org/officeDocument/2006/relationships" id="256" r:id="R3fbd9ab410d340d7"/>
    <p:sldId xmlns:r="http://schemas.openxmlformats.org/officeDocument/2006/relationships" id="257" r:id="Rcc2867cfedfd4091"/>
    <p:sldId xmlns:r="http://schemas.openxmlformats.org/officeDocument/2006/relationships" id="258" r:id="Ra70588e31a0c405d"/>
    <p:sldId xmlns:r="http://schemas.openxmlformats.org/officeDocument/2006/relationships" id="259" r:id="Rf8b0a7725fa944e4"/>
    <p:sldId xmlns:r="http://schemas.openxmlformats.org/officeDocument/2006/relationships" id="260" r:id="R16b4e7d738fd4139"/>
    <p:sldId xmlns:r="http://schemas.openxmlformats.org/officeDocument/2006/relationships" id="261" r:id="Rdc66a917680845d4"/>
    <p:sldId xmlns:r="http://schemas.openxmlformats.org/officeDocument/2006/relationships" id="262" r:id="Rd38132ef2b4148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42938fddbe4c4a" /><Relationship Type="http://schemas.openxmlformats.org/officeDocument/2006/relationships/slideMaster" Target="/ppt/slideMasters/slideMaster1.xml" Id="Rcaab7d0636244298" /><Relationship Type="http://schemas.openxmlformats.org/officeDocument/2006/relationships/notesMaster" Target="/ppt/notesMasters/notesMaster1.xml" Id="Rc4a63f19a4de46fe" /><Relationship Type="http://schemas.openxmlformats.org/officeDocument/2006/relationships/presProps" Target="/ppt/presProps.xml" Id="R1305acc6cc264012" /><Relationship Type="http://schemas.openxmlformats.org/officeDocument/2006/relationships/viewProps" Target="/ppt/viewProps.xml" Id="Rdcab5b44b6cf4da1" /><Relationship Type="http://schemas.openxmlformats.org/officeDocument/2006/relationships/tableStyles" Target="/ppt/tableStyles.xml" Id="R19be89f0b2f7436c" /><Relationship Type="http://schemas.openxmlformats.org/officeDocument/2006/relationships/slide" Target="/ppt/slides/slide1.xml" Id="R3fbd9ab410d340d7" /><Relationship Type="http://schemas.openxmlformats.org/officeDocument/2006/relationships/slide" Target="/ppt/slides/slide2.xml" Id="Rcc2867cfedfd4091" /><Relationship Type="http://schemas.openxmlformats.org/officeDocument/2006/relationships/slide" Target="/ppt/slides/slide3.xml" Id="Ra70588e31a0c405d" /><Relationship Type="http://schemas.openxmlformats.org/officeDocument/2006/relationships/slide" Target="/ppt/slides/slide4.xml" Id="Rf8b0a7725fa944e4" /><Relationship Type="http://schemas.openxmlformats.org/officeDocument/2006/relationships/slide" Target="/ppt/slides/slide5.xml" Id="R16b4e7d738fd4139" /><Relationship Type="http://schemas.openxmlformats.org/officeDocument/2006/relationships/slide" Target="/ppt/slides/slide6.xml" Id="Rdc66a917680845d4" /><Relationship Type="http://schemas.openxmlformats.org/officeDocument/2006/relationships/slide" Target="/ppt/slides/slide7.xml" Id="Rd38132ef2b4148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a3bae5f4b149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ainbow">
      <a:dk1>
        <a:srgbClr val="000000"/>
      </a:dk1>
      <a:lt1>
        <a:srgbClr val="FFFFFF"/>
      </a:lt1>
      <a:dk2>
        <a:srgbClr val="FE8429"/>
      </a:dk2>
      <a:lt2>
        <a:srgbClr val="24A57F"/>
      </a:lt2>
      <a:accent1>
        <a:srgbClr val="FA3A48"/>
      </a:accent1>
      <a:accent2>
        <a:srgbClr val="FDB80F"/>
      </a:accent2>
      <a:accent3>
        <a:srgbClr val="1EA24E"/>
      </a:accent3>
      <a:accent4>
        <a:srgbClr val="21A5A5"/>
      </a:accent4>
      <a:accent5>
        <a:srgbClr val="248EFD"/>
      </a:accent5>
      <a:accent6>
        <a:srgbClr val="675DEC"/>
      </a:accent6>
      <a:hlink>
        <a:srgbClr val="AB5EEB"/>
      </a:hlink>
      <a:folHlink>
        <a:srgbClr val="E263EB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ainb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5b93632a6842f6" /><Relationship Type="http://schemas.openxmlformats.org/officeDocument/2006/relationships/notesMaster" Target="/ppt/notesMasters/notesMaster1.xml" Id="R8e84151ce6bd4c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91402352814aa8" /><Relationship Type="http://schemas.openxmlformats.org/officeDocument/2006/relationships/notesMaster" Target="/ppt/notesMasters/notesMaster1.xml" Id="R783483e6185446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c3972a3cc94573" /><Relationship Type="http://schemas.openxmlformats.org/officeDocument/2006/relationships/notesMaster" Target="/ppt/notesMasters/notesMaster1.xml" Id="R9120fa772a5247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a13dacf17c4ad3" /><Relationship Type="http://schemas.openxmlformats.org/officeDocument/2006/relationships/notesMaster" Target="/ppt/notesMasters/notesMaster1.xml" Id="Rc53be68a567e45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30e5b6e4d5421c" /><Relationship Type="http://schemas.openxmlformats.org/officeDocument/2006/relationships/notesMaster" Target="/ppt/notesMasters/notesMaster1.xml" Id="R4b5ad29b2c2949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a56aad6830459b" /><Relationship Type="http://schemas.openxmlformats.org/officeDocument/2006/relationships/notesMaster" Target="/ppt/notesMasters/notesMaster1.xml" Id="R96bbbb0ac41d42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c1fd1e2b6442cd" /><Relationship Type="http://schemas.openxmlformats.org/officeDocument/2006/relationships/notesMaster" Target="/ppt/notesMasters/notesMaster1.xml" Id="Rb378d310348548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RepoProof is — A learning-comprehension check, not an AI-authorship detector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Identity separation — Students click a personalised link; their SID never reaches RepoProof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d48473e634f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5431924aa4c9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5AB274-8C25-205A-A564-2E3F15F24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72CF07-B5D8-F497-4DBC-B351F41023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6509C4-8D59-9726-2412-4848D08641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D962FE-3286-4E4E-8634-C5401030A5A7}" type="datetimeFigureOut">
              <a:t>29/07/2026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93AB1E-09BB-6ED0-2E56-27BB6196C0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F1E6F9-8ABA-E455-EF36-60E4691F54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FBD9D55-6F53-2B4D-B934-8553785FAC82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f7f485c998483e" /><Relationship Type="http://schemas.openxmlformats.org/officeDocument/2006/relationships/slideLayout" Target="/ppt/slideLayouts/slideLayout1.xml" Id="R0516e3313baa4db8" /><Relationship Type="http://schemas.openxmlformats.org/officeDocument/2006/relationships/slideLayout" Target="/ppt/slideLayouts/slideLayout2.xml" Id="Ra7874f1395174c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16e3313baa4db8"/>
    <p:sldLayoutId xmlns:r="http://schemas.openxmlformats.org/officeDocument/2006/relationships" id="2147483650" r:id="Ra7874f1395174ca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ainbow">
      <a:dk1>
        <a:srgbClr val="000000"/>
      </a:dk1>
      <a:lt1>
        <a:srgbClr val="FFFFFF"/>
      </a:lt1>
      <a:dk2>
        <a:srgbClr val="FE8429"/>
      </a:dk2>
      <a:lt2>
        <a:srgbClr val="24A57F"/>
      </a:lt2>
      <a:accent1>
        <a:srgbClr val="FA3A48"/>
      </a:accent1>
      <a:accent2>
        <a:srgbClr val="FDB80F"/>
      </a:accent2>
      <a:accent3>
        <a:srgbClr val="1EA24E"/>
      </a:accent3>
      <a:accent4>
        <a:srgbClr val="21A5A5"/>
      </a:accent4>
      <a:accent5>
        <a:srgbClr val="248EFD"/>
      </a:accent5>
      <a:accent6>
        <a:srgbClr val="675DEC"/>
      </a:accent6>
      <a:hlink>
        <a:srgbClr val="AB5EEB"/>
      </a:hlink>
      <a:folHlink>
        <a:srgbClr val="E263EB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ainb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67654e070436d" /><Relationship Type="http://schemas.openxmlformats.org/officeDocument/2006/relationships/notesSlide" Target="/ppt/notesSlides/notesSlide1.xml" Id="R6430ab3fb6ce4c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60a00c5fe4c01" /><Relationship Type="http://schemas.openxmlformats.org/officeDocument/2006/relationships/image" Target="/ppt/media/image.png" Id="Rb4270110fc0e4039" /><Relationship Type="http://schemas.openxmlformats.org/officeDocument/2006/relationships/image" Target="/ppt/media/image2.png" Id="R2fbd21853e504e38" /><Relationship Type="http://schemas.openxmlformats.org/officeDocument/2006/relationships/image" Target="/ppt/media/image3.png" Id="R49ed599bfdb44ed3" /><Relationship Type="http://schemas.openxmlformats.org/officeDocument/2006/relationships/image" Target="/ppt/media/image4.png" Id="R90c56520d9474182" /><Relationship Type="http://schemas.openxmlformats.org/officeDocument/2006/relationships/image" Target="/ppt/media/image5.png" Id="R94dc17d797a24bdc" /><Relationship Type="http://schemas.openxmlformats.org/officeDocument/2006/relationships/notesSlide" Target="/ppt/notesSlides/notesSlide2.xml" Id="Rcfaa9516bded49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5d4220cf844d6" /><Relationship Type="http://schemas.openxmlformats.org/officeDocument/2006/relationships/image" Target="/ppt/media/image6.png" Id="Rb2274833ca434a6c" /><Relationship Type="http://schemas.openxmlformats.org/officeDocument/2006/relationships/image" Target="/ppt/media/image7.png" Id="R2c20f2180beb4c1d" /><Relationship Type="http://schemas.openxmlformats.org/officeDocument/2006/relationships/image" Target="/ppt/media/image8.png" Id="R79d0de5031584dcd" /><Relationship Type="http://schemas.openxmlformats.org/officeDocument/2006/relationships/notesSlide" Target="/ppt/notesSlides/notesSlide3.xml" Id="R3f229152618647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40db7bfbb4f36" /><Relationship Type="http://schemas.openxmlformats.org/officeDocument/2006/relationships/image" Target="/ppt/media/image9.png" Id="Raa4f795d5deb459d" /><Relationship Type="http://schemas.openxmlformats.org/officeDocument/2006/relationships/image" Target="/ppt/media/image10.png" Id="Rc88b0f32dd7040bd" /><Relationship Type="http://schemas.openxmlformats.org/officeDocument/2006/relationships/hyperlink" Target="https://repoproof.chingyu.site/a/eE9I49oL1cE" TargetMode="External" Id="R8efe922b27794f40" /><Relationship Type="http://schemas.openxmlformats.org/officeDocument/2006/relationships/image" Target="/ppt/media/image11.png" Id="R4579890532e64684" /><Relationship Type="http://schemas.openxmlformats.org/officeDocument/2006/relationships/notesSlide" Target="/ppt/notesSlides/notesSlide4.xml" Id="Rb002b22ec63641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b53736720489a" /><Relationship Type="http://schemas.openxmlformats.org/officeDocument/2006/relationships/notesSlide" Target="/ppt/notesSlides/notesSlide5.xml" Id="R14f595b077784d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6c9cc964fc4b61" /><Relationship Type="http://schemas.openxmlformats.org/officeDocument/2006/relationships/image" Target="/ppt/media/image12.png" Id="R7b71a0caafb94920" /><Relationship Type="http://schemas.openxmlformats.org/officeDocument/2006/relationships/notesSlide" Target="/ppt/notesSlides/notesSlide6.xml" Id="R8c98a022b98241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399f6dad644fab" /><Relationship Type="http://schemas.openxmlformats.org/officeDocument/2006/relationships/notesSlide" Target="/ppt/notesSlides/notesSlide7.xml" Id="Rbc0628e678aa46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4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492CEC-0702-43FE-810D-F8251EA9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FFFFF"/>
                </a:solidFill>
              </a:rPr>
              <a:t>RepoProof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54FF5F-2C78-42A3-B191-F974E89A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9FB3C8"/>
                </a:solidFill>
              </a:rPr>
              <a:t>Ethics &amp; Data-Protection Design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D1854E-5E7C-4D72-916A-159C1FAB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B7785"/>
                </a:solidFill>
              </a:rPr>
              <a:t>Consultation brief · proposed use in COMP5339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68B4C2-F135-4EEF-B5C5-58DA88F9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7A8AA0"/>
                </a:solidFill>
              </a:rPr>
              <a:t>Participation-only (2%)  ·  human-approved  ·  pseudonymous  ·  local model  ·  opt-in retention</a:t>
            </a:r>
          </a:p>
        </p:txBody>
      </p:sp>
    </p:spTree>
    <p:extLst>
      <p:ext uri="{BB962C8B-B14F-4D97-AF65-F5344CB8AC3E}">
        <p14:creationId xmlns:p14="http://schemas.microsoft.com/office/powerpoint/2010/main" val="35574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A8411870-D370-ABAC-D097-C0B24C2F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7" y="4046838"/>
            <a:ext cx="9948672" cy="1680488"/>
          </a:xfrm>
          <a:prstGeom xmlns:a="http://schemas.openxmlformats.org/drawingml/2006/main" prst="roundRect">
            <a:avLst>
              <a:gd name="adj" fmla="val 8306"/>
            </a:avLst>
          </a:prstGeom>
          <a:solidFill xmlns:a="http://schemas.openxmlformats.org/drawingml/2006/main">
            <a:srgbClr val="D3E9FF">
              <a:alpha val="5019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t"/>
          <a:lstStyle xmlns:a="http://schemas.openxmlformats.org/drawingml/2006/main"/>
          <a:p xmlns:a="http://schemas.openxmlformats.org/drawingml/2006/main"/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EC4E909B-84C9-D22A-E176-310F719E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556" y="1570096"/>
            <a:ext cx="3261914" cy="889417"/>
          </a:xfrm>
          <a:prstGeom xmlns:a="http://schemas.openxmlformats.org/drawingml/2006/main" prst="roundRect">
            <a:avLst>
              <a:gd name="adj" fmla="val 8306"/>
            </a:avLst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t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Tutor QA</a:t>
            </a:r>
          </a:p>
          <a:p xmlns:a="http://schemas.openxmlformats.org/drawingml/2006/main">
            <a:pPr marL="227013" indent="-227013">
              <a:buFont typeface="Arial"/>
              <a:buChar char="•"/>
            </a:pPr>
            <a:r>
              <a:rPr>
                <a:solidFill>
                  <a:schemeClr val="accent1"/>
                </a:solidFill>
              </a:rPr>
              <a:t>time consuming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E6BFE20-32BD-6FAA-AAFA-601F360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570096"/>
            <a:ext cx="2603333" cy="1248350"/>
          </a:xfrm>
          <a:prstGeom xmlns:a="http://schemas.openxmlformats.org/drawingml/2006/main" prst="roundRect">
            <a:avLst>
              <a:gd name="adj" fmla="val 8306"/>
            </a:avLst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Lecture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Learn Concept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AF33AF-40C3-4FEB-97B2-1CE96247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8" y="620944"/>
            <a:ext cx="7406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6B7785"/>
                </a:solidFill>
              </a:rPr>
              <a:t>A customised learning-comprehension check</a:t>
            </a:r>
          </a:p>
        </p:txBody>
      </p:sp>
      <p:pic>
        <p:nvPicPr>
          <p:cNvPr id="87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70110fc0e4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2024542" y="1776821"/>
            <a:ext cx="739205" cy="739205"/>
          </a:xfrm>
          <a:prstGeom xmlns:a="http://schemas.openxmlformats.org/drawingml/2006/main" prst="rect">
            <a:avLst/>
          </a:prstGeom>
        </p:spPr>
      </p:pic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4B30E89-8D4B-C2BD-E805-8123D330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956" y="1570096"/>
            <a:ext cx="3261914" cy="1248350"/>
          </a:xfrm>
          <a:prstGeom xmlns:a="http://schemas.openxmlformats.org/drawingml/2006/main" prst="roundRect">
            <a:avLst>
              <a:gd name="adj" fmla="val 8306"/>
            </a:avLst>
          </a:prstGeom>
          <a:solidFill xmlns:a="http://schemas.openxmlformats.org/drawingml/2006/main">
            <a:schemeClr val="accent3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t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Assignment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Practice</a:t>
            </a:r>
          </a:p>
          <a:p xmlns:a="http://schemas.openxmlformats.org/drawingml/2006/main">
            <a:pPr marL="222250" indent="-222250">
              <a:buFont typeface="Arial"/>
              <a:buChar char="•"/>
            </a:pPr>
            <a:r>
              <a:rPr>
                <a:solidFill>
                  <a:schemeClr val="accent1"/>
                </a:solidFill>
              </a:rPr>
              <a:t>free rider</a:t>
            </a:r>
          </a:p>
          <a:p xmlns:a="http://schemas.openxmlformats.org/drawingml/2006/main">
            <a:pPr marL="222250" indent="-222250">
              <a:buFont typeface="Arial"/>
              <a:buChar char="•"/>
            </a:pPr>
            <a:r>
              <a:rPr>
                <a:solidFill>
                  <a:schemeClr val="accent1"/>
                </a:solidFill>
              </a:rPr>
              <a:t>use AI without understanding</a:t>
            </a:r>
          </a:p>
        </p:txBody>
      </p:sp>
      <p:pic>
        <p:nvPicPr>
          <p:cNvPr id="8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d21853e504e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8993" y="2172434"/>
            <a:ext cx="275368" cy="275368"/>
          </a:xfrm>
          <a:prstGeom xmlns:a="http://schemas.openxmlformats.org/drawingml/2006/main" prst="rect">
            <a:avLst/>
          </a:prstGeom>
        </p:spPr>
      </p:pic>
      <p:pic>
        <p:nvPicPr>
          <p:cNvPr id="9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d21853e504e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8993" y="2459513"/>
            <a:ext cx="275368" cy="275368"/>
          </a:xfrm>
          <a:prstGeom xmlns:a="http://schemas.openxmlformats.org/drawingml/2006/main" prst="rect">
            <a:avLst/>
          </a:prstGeom>
        </p:spPr>
      </p:pic>
      <p:pic>
        <p:nvPicPr>
          <p:cNvPr id="91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d599bfdb44e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8929" y="1611982"/>
            <a:ext cx="935666" cy="935666"/>
          </a:xfrm>
          <a:prstGeom xmlns:a="http://schemas.openxmlformats.org/drawingml/2006/main" prst="rect">
            <a:avLst/>
          </a:prstGeom>
        </p:spPr>
      </p:pic>
      <p:pic>
        <p:nvPicPr>
          <p:cNvPr id="92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d21853e504e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1102" y="1915654"/>
            <a:ext cx="275368" cy="275368"/>
          </a:xfrm>
          <a:prstGeom xmlns:a="http://schemas.openxmlformats.org/drawingml/2006/main" prst="rect">
            <a:avLst/>
          </a:prstGeom>
        </p:spPr>
      </p:pic>
      <p:pic>
        <p:nvPicPr>
          <p:cNvPr id="93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56520d9474182"/>
          <a:srcRect xmlns:a="http://schemas.openxmlformats.org/drawingml/2006/main" l="0" t="0" r="0" b="25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6216" y="1678888"/>
            <a:ext cx="968131" cy="716951"/>
          </a:xfrm>
          <a:prstGeom xmlns:a="http://schemas.openxmlformats.org/drawingml/2006/main" prst="rect">
            <a:avLst/>
          </a:prstGeom>
        </p:spPr>
      </p:pic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9F5C328-E169-53EC-E8AB-BC3AF856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556" y="2611496"/>
            <a:ext cx="3261914" cy="889417"/>
          </a:xfrm>
          <a:prstGeom xmlns:a="http://schemas.openxmlformats.org/drawingml/2006/main" prst="roundRect">
            <a:avLst>
              <a:gd name="adj" fmla="val 8306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t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RepoProof</a:t>
            </a:r>
          </a:p>
          <a:p xmlns:a="http://schemas.openxmlformats.org/drawingml/2006/main">
            <a:pPr marL="227013" indent="-227013">
              <a:buFont typeface="Arial"/>
              <a:buChar char="•"/>
            </a:pPr>
            <a:r>
              <a:rPr>
                <a:solidFill>
                  <a:schemeClr val="accent3"/>
                </a:solidFill>
              </a:rPr>
              <a:t>customised question</a:t>
            </a:r>
          </a:p>
          <a:p xmlns:a="http://schemas.openxmlformats.org/drawingml/2006/main">
            <a:pPr marL="227013" indent="-227013">
              <a:buFont typeface="Arial"/>
              <a:buChar char="•"/>
            </a:pPr>
            <a:r>
              <a:rPr sz="1600">
                <a:solidFill>
                  <a:schemeClr val="accent3"/>
                </a:solidFill>
              </a:rPr>
              <a:t>MCQ </a:t>
            </a:r>
            <a:r>
              <a:rPr sz="1600">
                <a:solidFill>
                  <a:schemeClr val="accent3"/>
                </a:solidFill>
              </a:rPr>
              <a:t>with explanation</a:t>
            </a:r>
          </a:p>
        </p:txBody>
      </p:sp>
      <p:sp>
        <p:nvSpPr>
          <p:cNvPr id="31" name="Right Arrow 30">
            <a:extLst xmlns:a="http://schemas.openxmlformats.org/drawingml/2006/main">
              <a:ext uri="{FF2B5EF4-FFF2-40B4-BE49-F238E27FC236}">
                <a16:creationId xmlns:a16="http://schemas.microsoft.com/office/drawing/2014/main" id="{27E8F0F1-647D-5CB5-9AFD-AE8A9A48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67" y="2017887"/>
            <a:ext cx="219458" cy="30909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ight Arrow 31">
            <a:extLst xmlns:a="http://schemas.openxmlformats.org/drawingml/2006/main">
              <a:ext uri="{FF2B5EF4-FFF2-40B4-BE49-F238E27FC236}">
                <a16:creationId xmlns:a16="http://schemas.microsoft.com/office/drawing/2014/main" id="{B3DB4F41-BCD2-643A-A6EF-B11A5871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082" y="1898791"/>
            <a:ext cx="219458" cy="309093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/>
            </a:solidFill>
            <a:prstDash val="sys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ight Arrow 32">
            <a:extLst xmlns:a="http://schemas.openxmlformats.org/drawingml/2006/main">
              <a:ext uri="{FF2B5EF4-FFF2-40B4-BE49-F238E27FC236}">
                <a16:creationId xmlns:a16="http://schemas.microsoft.com/office/drawing/2014/main" id="{72838B85-7015-BDCB-E725-51C6BEE8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082" y="2873647"/>
            <a:ext cx="219458" cy="30909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8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c17d797a24b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9436" y="2793462"/>
            <a:ext cx="633414" cy="633414"/>
          </a:xfrm>
          <a:prstGeom xmlns:a="http://schemas.openxmlformats.org/drawingml/2006/main" prst="rect">
            <a:avLst/>
          </a:prstGeom>
        </p:spPr>
      </p:pic>
      <p:sp>
        <p:nvSpPr>
          <p:cNvPr id="40" name="Text 7">
            <a:extLst xmlns:a="http://schemas.openxmlformats.org/drawingml/2006/main">
              <a:ext uri="{FF2B5EF4-FFF2-40B4-BE49-F238E27FC236}">
                <a16:creationId xmlns:a16="http://schemas.microsoft.com/office/drawing/2014/main" id="{415D9114-6BC8-3E42-CBA3-AB2D177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319318"/>
            <a:ext cx="1516381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3970">
            <a:solidFill>
              <a:srgbClr val="2E4756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Student submits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</a:rPr>
              <a:t>a code project</a:t>
            </a:r>
          </a:p>
        </p:txBody>
      </p:sp>
      <p:sp>
        <p:nvSpPr>
          <p:cNvPr id="41" name="Text 8">
            <a:extLst xmlns:a="http://schemas.openxmlformats.org/drawingml/2006/main">
              <a:ext uri="{FF2B5EF4-FFF2-40B4-BE49-F238E27FC236}">
                <a16:creationId xmlns:a16="http://schemas.microsoft.com/office/drawing/2014/main" id="{F5BF5CFD-AAE2-A237-30DE-C6EDB423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932" y="4319318"/>
            <a:ext cx="17200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 w="13970">
            <a:solidFill>
              <a:srgbClr val="2E6F8E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Auto code analysis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0384A"/>
                </a:solidFill>
              </a:rPr>
              <a:t>extract verifiable facts</a:t>
            </a:r>
          </a:p>
        </p:txBody>
      </p:sp>
      <p:sp>
        <p:nvSpPr>
          <p:cNvPr id="42" name="Text 9">
            <a:extLst xmlns:a="http://schemas.openxmlformats.org/drawingml/2006/main">
              <a:ext uri="{FF2B5EF4-FFF2-40B4-BE49-F238E27FC236}">
                <a16:creationId xmlns:a16="http://schemas.microsoft.com/office/drawing/2014/main" id="{AA5274E2-2BE6-F6A6-E442-FB6F9CF1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480" y="4319318"/>
            <a:ext cx="187452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 w="13970">
            <a:solidFill>
              <a:srgbClr val="2E6F8E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Generate questions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0384A"/>
                </a:solidFill>
              </a:rPr>
              <a:t>about THIS code</a:t>
            </a:r>
          </a:p>
        </p:txBody>
      </p:sp>
      <p:sp>
        <p:nvSpPr>
          <p:cNvPr id="43" name="Text 10">
            <a:extLst xmlns:a="http://schemas.openxmlformats.org/drawingml/2006/main">
              <a:ext uri="{FF2B5EF4-FFF2-40B4-BE49-F238E27FC236}">
                <a16:creationId xmlns:a16="http://schemas.microsoft.com/office/drawing/2014/main" id="{578420DC-1C61-8CF8-001D-ED8F5015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504" y="4319318"/>
            <a:ext cx="1588397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 w="13970">
            <a:solidFill>
              <a:srgbClr val="2E6F8E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Instructor reviews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0384A"/>
                </a:solidFill>
              </a:rPr>
              <a:t>edits · approves</a:t>
            </a:r>
          </a:p>
        </p:txBody>
      </p:sp>
      <p:sp>
        <p:nvSpPr>
          <p:cNvPr id="44" name="Text 11">
            <a:extLst xmlns:a="http://schemas.openxmlformats.org/drawingml/2006/main">
              <a:ext uri="{FF2B5EF4-FFF2-40B4-BE49-F238E27FC236}">
                <a16:creationId xmlns:a16="http://schemas.microsoft.com/office/drawing/2014/main" id="{559DB1AE-9BEC-400B-8C77-A7ABAE06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405" y="4319318"/>
            <a:ext cx="1599298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4">
              <a:lumMod val="40000"/>
              <a:lumOff val="60000"/>
            </a:schemeClr>
          </a:solidFill>
          <a:ln xmlns:a="http://schemas.openxmlformats.org/drawingml/2006/main" w="13970">
            <a:solidFill>
              <a:srgbClr val="2E6F8E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Student answers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0384A"/>
                </a:solidFill>
              </a:rPr>
              <a:t>(immediate feedback)</a:t>
            </a:r>
          </a:p>
        </p:txBody>
      </p:sp>
      <p:sp>
        <p:nvSpPr>
          <p:cNvPr id="45" name="Text 12">
            <a:extLst xmlns:a="http://schemas.openxmlformats.org/drawingml/2006/main">
              <a:ext uri="{FF2B5EF4-FFF2-40B4-BE49-F238E27FC236}">
                <a16:creationId xmlns:a16="http://schemas.microsoft.com/office/drawing/2014/main" id="{962BFF91-AE15-1F5D-28B2-305D2F75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207" y="4319318"/>
            <a:ext cx="1599298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>
              <a:lumMod val="40000"/>
              <a:lumOff val="60000"/>
            </a:schemeClr>
          </a:solidFill>
          <a:ln xmlns:a="http://schemas.openxmlformats.org/drawingml/2006/main" w="13970">
            <a:solidFill>
              <a:srgbClr val="2E6F8E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Understanding profile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10384A"/>
                </a:solidFill>
              </a:rPr>
              <a:t>per topic</a:t>
            </a:r>
          </a:p>
        </p:txBody>
      </p:sp>
      <p:cxnSp>
        <p:nvCxnSpPr>
          <p:cNvPr id="105" name="Straight Arrow Connector 46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900429" y="4675934"/>
            <a:ext cx="300503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6" name="Straight Arrow Connector 50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920976" y="4675934"/>
            <a:ext cx="300504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7" name="Straight Arrow Connector 53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6096000" y="4675934"/>
            <a:ext cx="300504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8" name="Straight Arrow Connector 54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7984901" y="4675934"/>
            <a:ext cx="300504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9" name="Straight Arrow Connector 55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9884703" y="4675934"/>
            <a:ext cx="300504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CA296921-9F9D-543F-692F-E81502A1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506" y="5091151"/>
            <a:ext cx="2014136" cy="5944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600"/>
              </a:spcAft>
              <a:buSzPct val="100000"/>
              <a:buNone/>
            </a:pPr>
            <a:r>
              <a:rPr sz="1050">
                <a:solidFill>
                  <a:srgbClr val="1B2430"/>
                </a:solidFill>
              </a:rPr>
              <a:t>checks comprehension of the specific code the student submitted.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44B8CC59-E7AE-338E-47C5-D17D5F97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247" y="5091151"/>
            <a:ext cx="2014136" cy="424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600"/>
              </a:spcAft>
              <a:buSzPct val="100000"/>
              <a:buNone/>
            </a:pPr>
            <a:r>
              <a:rPr sz="1050">
                <a:solidFill>
                  <a:srgbClr val="1B2430"/>
                </a:solidFill>
              </a:rPr>
              <a:t>Every question is generated from facts extracted from that project.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0CF92FDF-38FD-E4C1-1238-848D498E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193" y="5091151"/>
            <a:ext cx="1882362" cy="4089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600"/>
              </a:spcAft>
              <a:buSzPct val="100000"/>
              <a:buNone/>
            </a:pPr>
            <a:r>
              <a:rPr sz="1000">
                <a:solidFill>
                  <a:srgbClr val="1B2430"/>
                </a:solidFill>
              </a:rPr>
              <a:t>A human instructor reviews before any student sees it.</a:t>
            </a:r>
          </a:p>
        </p:txBody>
      </p:sp>
      <p:sp>
        <p:nvSpPr>
          <p:cNvPr id="74" name="Straight Connector 73">
            <a:extLst xmlns:a="http://schemas.openxmlformats.org/drawingml/2006/main">
              <a:ext uri="{FF2B5EF4-FFF2-40B4-BE49-F238E27FC236}">
                <a16:creationId xmlns:a16="http://schemas.microsoft.com/office/drawing/2014/main" id="{FF207985-9F6D-4C0A-95F8-64DA9FF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2" y="3500913"/>
            <a:ext cx="0" cy="5459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F7DA85E8-7989-C2FA-FB01-ABDF986C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6" y="172995"/>
            <a:ext cx="41656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/>
              <a:t>About the Project: </a:t>
            </a:r>
            <a:r>
              <a:rPr sz="2400" b="1">
                <a:solidFill>
                  <a:srgbClr val="1B2430"/>
                </a:solidFill>
              </a:rPr>
              <a:t>RepoProof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31E1020-7935-4124-A422-EC76C393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947" y="1611982"/>
            <a:ext cx="2885011" cy="783857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1B62565-59EF-EFBF-3775-A223524E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958" y="4025482"/>
            <a:ext cx="189979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2">
                    <a:lumMod val="75000"/>
                  </a:schemeClr>
                </a:solidFill>
              </a:rPr>
              <a:t>Provide to lecturer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F754051-5432-8B49-8F61-3DEA9679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86" y="4025482"/>
            <a:ext cx="189979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3">
                    <a:lumMod val="75000"/>
                  </a:schemeClr>
                </a:solidFill>
              </a:rPr>
              <a:t>(Assignment)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BD4892-9096-4971-DB59-69A907E4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71" y="3892949"/>
            <a:ext cx="189979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accent5">
                    <a:lumMod val="60000"/>
                    <a:lumOff val="40000"/>
                  </a:schemeClr>
                </a:solidFill>
              </a:rPr>
              <a:t>External Platform</a:t>
            </a:r>
          </a:p>
        </p:txBody>
      </p:sp>
    </p:spTree>
    <p:extLst>
      <p:ext uri="{BB962C8B-B14F-4D97-AF65-F5344CB8AC3E}">
        <p14:creationId xmlns:p14="http://schemas.microsoft.com/office/powerpoint/2010/main" val="974808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3804E3-9056-45A8-9491-BDF23D57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2430"/>
                </a:solidFill>
              </a:rPr>
              <a:t>Proposed use in COMP5339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465495-BCA7-481E-91C7-BD8FE9FE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4687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B7785"/>
                </a:solidFill>
              </a:rPr>
              <a:t>Low-stakes, formative, and instructor-controlled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3C76E6F-E2E2-4F10-813D-0151B939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9" y="1234440"/>
            <a:ext cx="5526024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>
                    <a:lumMod val="75000"/>
                  </a:schemeClr>
                </a:solidFill>
              </a:rPr>
              <a:t>2% participation mark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262B28F-B71D-4850-B723-E66440FB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1709928"/>
            <a:ext cx="222678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Credit is for completing the quiz.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1793BF8-8689-4883-BD7B-AA94F42A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12" y="3944615"/>
            <a:ext cx="5547361" cy="11924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>
                    <a:lumMod val="75000"/>
                  </a:schemeClr>
                </a:solidFill>
              </a:rPr>
              <a:t>Immediate feedback </a:t>
            </a:r>
            <a:br/>
            <a:r>
              <a:rPr b="1">
                <a:solidFill>
                  <a:schemeClr val="accent5">
                    <a:lumMod val="75000"/>
                  </a:schemeClr>
                </a:solidFill>
              </a:rPr>
              <a:t>+ explanations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1E93FC-7D4D-4503-961D-7D65034F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4693344"/>
            <a:ext cx="1747810" cy="2747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Positioned as a learning aid.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0F220BC-D3BA-432C-B889-796A9C5A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468314"/>
            <a:ext cx="5526025" cy="11515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>
                    <a:lumMod val="75000"/>
                  </a:schemeClr>
                </a:solidFill>
              </a:rPr>
              <a:t>Short quiz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9C2C6D8-7B80-4115-9859-EF01BB99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2943802"/>
            <a:ext cx="174781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5 MCQ, under ~3 minutes;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little incentive to game it.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05696D8-B467-455A-91BE-20562AD5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468314"/>
            <a:ext cx="4065230" cy="2632173"/>
          </a:xfrm>
          <a:prstGeom xmlns:a="http://schemas.openxmlformats.org/drawingml/2006/main" prst="roundRect">
            <a:avLst>
              <a:gd name="adj" fmla="val 6682"/>
            </a:avLst>
          </a:prstGeom>
          <a:solidFill xmlns:a="http://schemas.openxmlformats.org/drawingml/2006/main">
            <a:srgbClr val="D3E9FF">
              <a:alpha val="3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  <a:alpha val="7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/>
                </a:solidFill>
              </a:rPr>
              <a:t>Instructor-approved questions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B6FE19-09DD-4ED7-BB65-6A78EFB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231" y="2918044"/>
            <a:ext cx="303115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Every question is human-reviewed before release.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C6204C6-D3B6-4EE4-896F-67382DF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12" y="5492922"/>
            <a:ext cx="5532120" cy="110275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>
                    <a:lumMod val="75000"/>
                  </a:schemeClr>
                </a:solidFill>
              </a:rPr>
              <a:t>Optional student survey </a:t>
            </a:r>
            <a:r>
              <a:rPr>
                <a:solidFill>
                  <a:schemeClr val="accent5">
                    <a:lumMod val="75000"/>
                  </a:schemeClr>
                </a:solidFill>
              </a:rPr>
              <a:t>(via Qualtrics)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4855FB3-A493-4F63-A4C8-4D26E0AE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" y="5952744"/>
            <a:ext cx="244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Voluntary feedback on the experience; 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not required and not linked to the mark.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0389A4E-056F-41B3-A6B5-791584B9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834" y="1224465"/>
            <a:ext cx="406523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E9FF">
              <a:alpha val="3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  <a:alpha val="7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5"/>
                </a:solidFill>
              </a:rPr>
              <a:t>Equivalent alternative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2FD792-DCF3-47B2-B8E7-5E3A70D2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231" y="1622443"/>
            <a:ext cx="2887148" cy="3432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1B2430"/>
                </a:solidFill>
              </a:rPr>
              <a:t>Students who opt out of data retention still earn the 2% the same way.</a:t>
            </a:r>
          </a:p>
        </p:txBody>
      </p:sp>
      <p:pic>
        <p:nvPicPr>
          <p:cNvPr id="50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74833ca434a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1231" y="3130202"/>
            <a:ext cx="3668486" cy="1916548"/>
          </a:xfrm>
          <a:prstGeom xmlns:a="http://schemas.openxmlformats.org/drawingml/2006/main" prst="roundRect">
            <a:avLst>
              <a:gd name="adj" fmla="val 10640"/>
            </a:avLst>
          </a:prstGeom>
          <a:effectLst xmlns:a="http://schemas.openxmlformats.org/drawingml/2006/main"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pic>
        <p:nvPicPr>
          <p:cNvPr id="51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0f2180beb4c1d"/>
          <a:srcRect xmlns:a="http://schemas.openxmlformats.org/drawingml/2006/main" l="0" t="0" r="0" b="3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3293" y="2490900"/>
            <a:ext cx="3362289" cy="1080891"/>
          </a:xfrm>
          <a:prstGeom xmlns:a="http://schemas.openxmlformats.org/drawingml/2006/main" prst="roundRect">
            <a:avLst/>
          </a:prstGeom>
          <a:effectLst xmlns:a="http://schemas.openxmlformats.org/drawingml/2006/main">
            <a:outerShdw blurRad="50800" dist="38100" dir="27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52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0de5031584dcd"/>
          <a:srcRect xmlns:a="http://schemas.openxmlformats.org/drawingml/2006/main" l="0" t="39349" r="0" b="1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9271" y="3957820"/>
            <a:ext cx="3316310" cy="1153694"/>
          </a:xfrm>
          <a:prstGeom xmlns:a="http://schemas.openxmlformats.org/drawingml/2006/main" prst="roundRect">
            <a:avLst>
              <a:gd name="adj" fmla="val 17575"/>
            </a:avLst>
          </a:prstGeom>
          <a:effectLst xmlns:a="http://schemas.openxmlformats.org/drawingml/2006/main">
            <a:outerShdw blurRad="508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27" name="Down Arrow 26">
            <a:extLst xmlns:a="http://schemas.openxmlformats.org/drawingml/2006/main">
              <a:ext uri="{FF2B5EF4-FFF2-40B4-BE49-F238E27FC236}">
                <a16:creationId xmlns:a16="http://schemas.microsoft.com/office/drawing/2014/main" id="{0D603F15-C54E-4934-5E08-A52E3EF4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81" y="2148840"/>
            <a:ext cx="640158" cy="329449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Down Arrow 27">
            <a:extLst xmlns:a="http://schemas.openxmlformats.org/drawingml/2006/main">
              <a:ext uri="{FF2B5EF4-FFF2-40B4-BE49-F238E27FC236}">
                <a16:creationId xmlns:a16="http://schemas.microsoft.com/office/drawing/2014/main" id="{41D1202B-72C9-6B25-E1D2-BF8EEC86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81" y="3619675"/>
            <a:ext cx="640158" cy="329449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Down Arrow 28">
            <a:extLst xmlns:a="http://schemas.openxmlformats.org/drawingml/2006/main">
              <a:ext uri="{FF2B5EF4-FFF2-40B4-BE49-F238E27FC236}">
                <a16:creationId xmlns:a16="http://schemas.microsoft.com/office/drawing/2014/main" id="{906269EA-878B-497F-308B-24B9A44C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81" y="5150269"/>
            <a:ext cx="640158" cy="329449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3E9FF">
              <a:alpha val="50000"/>
            </a:srgbClr>
          </a:solidFill>
          <a:ln xmlns:a="http://schemas.openxmlformats.org/drawingml/2006/main" w="12700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Left-right Arrow 30">
            <a:extLst xmlns:a="http://schemas.openxmlformats.org/drawingml/2006/main">
              <a:ext uri="{FF2B5EF4-FFF2-40B4-BE49-F238E27FC236}">
                <a16:creationId xmlns:a16="http://schemas.microsoft.com/office/drawing/2014/main" id="{7E713192-8C64-202C-BD9B-DE43C1C3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354" y="1580517"/>
            <a:ext cx="457200" cy="286819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Left-right Arrow 31">
            <a:extLst xmlns:a="http://schemas.openxmlformats.org/drawingml/2006/main">
              <a:ext uri="{FF2B5EF4-FFF2-40B4-BE49-F238E27FC236}">
                <a16:creationId xmlns:a16="http://schemas.microsoft.com/office/drawing/2014/main" id="{EA3AC4DE-A190-3166-9671-6621ECA6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354" y="3609733"/>
            <a:ext cx="457200" cy="286819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872338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94C846B-CCFC-43C6-B22F-9AD4190C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5" y="1104954"/>
            <a:ext cx="4594137" cy="5635422"/>
          </a:xfrm>
          <a:prstGeom xmlns:a="http://schemas.openxmlformats.org/drawingml/2006/main" prst="roundRect">
            <a:avLst>
              <a:gd name="adj" fmla="val 5686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397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RepoProof</a:t>
            </a:r>
          </a:p>
        </p:txBody>
      </p:sp>
      <p:pic>
        <p:nvPicPr>
          <p:cNvPr id="68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f795d5deb45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243" y="5953818"/>
            <a:ext cx="4272428" cy="616936"/>
          </a:xfrm>
          <a:prstGeom xmlns:a="http://schemas.openxmlformats.org/drawingml/2006/main" prst="rect">
            <a:avLst/>
          </a:prstGeom>
        </p:spPr>
      </p:pic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782154-E042-4AB2-8F06-4DED118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285813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2430"/>
                </a:solidFill>
              </a:rPr>
              <a:t>Identity separation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ADC1EB-6452-48B4-8EB3-BB4F2069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7406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785"/>
                </a:solidFill>
              </a:rPr>
              <a:t>Students click a personalised link; their SID never reaches RepoProof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34679AD-6F44-4C30-B868-A009542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610" y="1728322"/>
            <a:ext cx="2553919" cy="38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  <a:prstDash val="solid"/>
            <a:headEnd type="none" w="med" len="med"/>
            <a:tailEnd type="arrow" w="med" len="me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DC0B2C4-210E-465A-A37C-3F4BE2BB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54" y="1104953"/>
            <a:ext cx="2596670" cy="2079440"/>
          </a:xfrm>
          <a:prstGeom xmlns:a="http://schemas.openxmlformats.org/drawingml/2006/main" prst="can">
            <a:avLst/>
          </a:prstGeom>
          <a:solidFill xmlns:a="http://schemas.openxmlformats.org/drawingml/2006/main">
            <a:schemeClr val="tx2">
              <a:lumMod val="60000"/>
              <a:lumOff val="40000"/>
            </a:schemeClr>
          </a:solidFill>
          <a:ln xmlns:a="http://schemas.openxmlformats.org/drawingml/2006/main" w="13970">
            <a:solidFill>
              <a:schemeClr val="tx2">
                <a:lumMod val="50000"/>
              </a:scheme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00B4FF5-1218-4F3E-837E-E154E4C3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302025"/>
            <a:ext cx="3130732" cy="2499919"/>
          </a:xfrm>
          <a:prstGeom xmlns:a="http://schemas.openxmlformats.org/drawingml/2006/main" prst="roundRect">
            <a:avLst>
              <a:gd name="adj" fmla="val 6007"/>
            </a:avLst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  <a:ln xmlns:a="http://schemas.openxmlformats.org/drawingml/2006/main" w="13970">
            <a:solidFill>
              <a:schemeClr val="tx2">
                <a:lumMod val="75000"/>
              </a:scheme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0384A"/>
                </a:solidFill>
              </a:rPr>
              <a:t>Canvas deliver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9998F53-FCD0-44FE-93DB-BBFD2586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284" y="3713467"/>
            <a:ext cx="1001268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B7785"/>
                </a:solidFill>
              </a:rPr>
              <a:t>RepoID only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FDE7D1F-0659-42D5-892A-954D5E33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089" y="5781579"/>
            <a:ext cx="845820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B7785"/>
                </a:solidFill>
              </a:rPr>
              <a:t>copy code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65533B7-56A6-4AD4-962F-63FD6220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780" y="1196656"/>
            <a:ext cx="1414875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B7785"/>
                </a:solidFill>
              </a:rPr>
              <a:t>provide mapping</a:t>
            </a:r>
          </a:p>
        </p:txBody>
      </p:sp>
      <p:graphicFrame>
        <p:nvGraphicFramePr>
          <p:cNvPr id="77" name="Table 26"/>
          <p:cNvGraphicFramePr/>
          <p:nvPr/>
        </p:nvGraphicFramePr>
        <p:xfrm>
          <a:off xmlns:a="http://schemas.openxmlformats.org/drawingml/2006/main" x="803867" y="1666875"/>
          <a:ext xmlns:a="http://schemas.openxmlformats.org/drawingml/2006/main" cx="2123244" cy="133578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744"/>
                <a:gridCol w="629250"/>
                <a:gridCol w="629250"/>
              </a:tblGrid>
              <a:tr h="165939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SID</a:t>
                      </a:r>
                    </a:p>
                  </a:txBody>
                  <a:tcPr marL="91440" marR="91440" marT="45720" marB="457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folder</a:t>
                      </a:r>
                    </a:p>
                  </a:txBody>
                  <a:tcPr marL="91440" marR="91440" marT="45720" marB="457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RepoID</a:t>
                      </a:r>
                    </a:p>
                  </a:txBody>
                  <a:tcPr marL="91440" marR="91440" marT="45720" marB="45720">
                    <a:solidFill>
                      <a:schemeClr val="tx2"/>
                    </a:solidFill>
                  </a:tcPr>
                </a:tc>
              </a:tr>
              <a:tr h="165939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540791765</a:t>
                      </a:r>
                    </a:p>
                  </a:txBody>
                  <a:tcPr marL="91440" marR="91440" marT="45720" marB="45720">
                    <a:solidFill>
                      <a:srgbClr val="FFCF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CF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sjdivn</a:t>
                      </a:r>
                    </a:p>
                  </a:txBody>
                  <a:tcPr marL="91440" marR="91440" marT="45720" marB="45720">
                    <a:solidFill>
                      <a:srgbClr val="FFCFA9">
                        <a:alpha val="50196"/>
                      </a:srgbClr>
                    </a:solidFill>
                  </a:tcPr>
                </a:tc>
              </a:tr>
              <a:tr h="165939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559246987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ejhud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65939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560746291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cjudfc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</a:tr>
              <a:tr h="165939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537599017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wjdui</a:t>
                      </a:r>
                    </a:p>
                  </a:txBody>
                  <a:tcPr marL="91440" marR="91440" marT="45720" marB="4572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04928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  <a:buNone/>
                      </a:pPr>
                      <a:r>
                        <a:rPr sz="1050">
                          <a:latin typeface="Candara"/>
                          <a:ea typeface="Candara"/>
                          <a:cs typeface="Candara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D0A9">
                        <a:alpha val="50196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70B3837-7F94-89B0-0F2E-FD9A4245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82" y="1171445"/>
            <a:ext cx="205861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/>
              <a:t>CARE</a:t>
            </a:r>
            <a:r>
              <a:rPr sz="1400"/>
              <a:t> </a:t>
            </a:r>
            <a:r>
              <a:rPr sz="1400"/>
              <a:t>staff</a:t>
            </a:r>
          </a:p>
        </p:txBody>
      </p:sp>
      <p:pic>
        <p:nvPicPr>
          <p:cNvPr id="79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b0f32dd7040bd"/>
          <a:srcRect xmlns:a="http://schemas.openxmlformats.org/drawingml/2006/main" l="0" t="20254" r="333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5414" y="3737259"/>
            <a:ext cx="2808000" cy="1595426"/>
          </a:xfrm>
          <a:prstGeom xmlns:a="http://schemas.openxmlformats.org/drawingml/2006/main" prst="rect">
            <a:avLst/>
          </a:prstGeom>
        </p:spPr>
      </p:pic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29B716C-1460-99F6-CE9E-26F31F3E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5414" y="4876026"/>
            <a:ext cx="2808000" cy="7758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07D1661-D32F-2F61-717A-1CF64530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756" y="4536471"/>
            <a:ext cx="2684723" cy="3395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1EAD7AF-29A2-6DF1-3644-D8BB69D7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737" y="4876026"/>
            <a:ext cx="1949082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273541"/>
                </a:solidFill>
                <a:latin typeface="Arial"/>
                <a:ea typeface="Arial"/>
                <a:cs typeface="Arial"/>
              </a:rPr>
              <a:t>Paste your finished code here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EFA1769-DBC6-8CF5-26A4-FADD8CA9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696" y="5346188"/>
            <a:ext cx="550912" cy="19051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613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9669073-15B0-F0CB-1D9A-3257AA79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7037" y="5026657"/>
            <a:ext cx="153837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4"/>
                </a:solidFill>
                <a:latin typeface="Candara"/>
                <a:ea typeface="Candara"/>
                <a:cs typeface="Candara"/>
              </a:rPr>
              <a:t>sjdivn-sjdivn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746BBCE-4C67-04D2-1B06-31889E34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737" y="4486061"/>
            <a:ext cx="272721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273541"/>
                </a:solidFill>
                <a:latin typeface="Arial"/>
                <a:ea typeface="Arial"/>
                <a:cs typeface="Arial"/>
              </a:rPr>
              <a:t>Complete your Quiz Here:</a:t>
            </a:r>
          </a:p>
          <a:p xmlns:a="http://schemas.openxmlformats.org/drawingml/2006/main">
            <a:r>
              <a:rPr sz="1000">
                <a:solidFill>
                  <a:srgbClr val="273541"/>
                </a:solidFill>
                <a:latin typeface="Arial"/>
                <a:ea typeface="Arial"/>
                <a:cs typeface="Arial"/>
                <a:hlinkClick xmlns:r="http://schemas.openxmlformats.org/officeDocument/2006/relationships" r:id="R8efe922b27794f40"/>
              </a:rPr>
              <a:t>https://repoproof/comp5339/a1/sjdivn</a:t>
            </a:r>
          </a:p>
        </p:txBody>
      </p:sp>
      <p:pic>
        <p:nvPicPr>
          <p:cNvPr id="86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b0f32dd7040bd"/>
          <a:srcRect xmlns:a="http://schemas.openxmlformats.org/drawingml/2006/main" l="0" t="0" r="33335" b="88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45414" y="3548553"/>
            <a:ext cx="2808000" cy="239231"/>
          </a:xfrm>
          <a:prstGeom xmlns:a="http://schemas.openxmlformats.org/drawingml/2006/main" prst="rect">
            <a:avLst/>
          </a:prstGeom>
        </p:spPr>
      </p:pic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8AFEC1B-BC69-D9DB-B75B-CD21795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696" y="5122247"/>
            <a:ext cx="1713598" cy="15093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9890532e64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243" y="1473116"/>
            <a:ext cx="4272428" cy="4480702"/>
          </a:xfrm>
          <a:prstGeom xmlns:a="http://schemas.openxmlformats.org/drawingml/2006/main" prst="rect">
            <a:avLst/>
          </a:prstGeom>
        </p:spPr>
      </p:pic>
      <p:graphicFrame>
        <p:nvGraphicFramePr>
          <p:cNvPr id="89" name="Table 43"/>
          <p:cNvGraphicFramePr/>
          <p:nvPr/>
        </p:nvGraphicFramePr>
        <p:xfrm>
          <a:off xmlns:a="http://schemas.openxmlformats.org/drawingml/2006/main" x="3726997" y="1405960"/>
          <a:ext xmlns:a="http://schemas.openxmlformats.org/drawingml/2006/main" cx="1557597" cy="66375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5104"/>
                <a:gridCol w="1162493"/>
              </a:tblGrid>
              <a:tr h="165939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folder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RepoID</a:t>
                      </a:r>
                    </a:p>
                  </a:txBody>
                  <a:tcPr marL="0" marR="0" marT="0" marB="0" anchor="ctr"/>
                </a:tc>
              </a:tr>
              <a:tr h="165939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sjdivn</a:t>
                      </a:r>
                      <a:r>
                        <a:rPr sz="1050"/>
                        <a:t>, </a:t>
                      </a:r>
                      <a:r>
                        <a:rPr sz="1050"/>
                        <a:t>ejhud</a:t>
                      </a:r>
                      <a:r>
                        <a:rPr sz="1050"/>
                        <a:t>, </a:t>
                      </a:r>
                      <a:r>
                        <a:rPr sz="1050"/>
                        <a:t>cjudfc</a:t>
                      </a:r>
                    </a:p>
                  </a:txBody>
                  <a:tcPr marL="0" marR="0" marT="0" marB="0" anchor="ctr"/>
                </a:tc>
              </a:tr>
              <a:tr h="165939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wjdui</a:t>
                      </a:r>
                      <a:r>
                        <a:rPr sz="1050"/>
                        <a:t>, </a:t>
                      </a:r>
                      <a:r>
                        <a:rPr sz="1050"/>
                        <a:t>dkoud</a:t>
                      </a:r>
                    </a:p>
                  </a:txBody>
                  <a:tcPr marL="0" marR="0" marT="0" marB="0" anchor="ctr"/>
                </a:tc>
              </a:tr>
              <a:tr h="165939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…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  <a:buNone/>
                      </a:pPr>
                      <a:r>
                        <a:rPr sz="1050"/>
                        <a:t>…</a:t>
                      </a: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F6AA6F12-F7AE-99E5-15A2-BBE8ED3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698" y="2859929"/>
            <a:ext cx="2052414" cy="4411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2. Short MCQ Quiz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44A5F892-3F38-8E4C-6AD8-AB10B5A1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346" y="4687896"/>
            <a:ext cx="2375339" cy="4411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3. Immediate Feedback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64B378B8-4F1E-34BD-F3F8-B3A7FE0E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515" y="6247002"/>
            <a:ext cx="1289919" cy="4411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4. get code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47247BA-5146-49FF-901F-AA9F51D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093204" y="5273178"/>
            <a:ext cx="3864274" cy="1050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E6F8E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A795AF-776D-4151-8E1C-6D053214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94797" y="1955824"/>
            <a:ext cx="3417611" cy="277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2E6F8E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A3E80438-D70F-40AE-2A35-424AD1F6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243" y="818518"/>
            <a:ext cx="4432123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i="1">
                <a:solidFill>
                  <a:schemeClr val="bg1">
                    <a:lumMod val="50000"/>
                  </a:schemeClr>
                </a:solidFill>
              </a:rPr>
              <a:t>A personalised link carries the RepoID, so the SID never leaves USYD systems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F045B99-A950-8E5B-9B61-E6B54728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43" y="5870440"/>
            <a:ext cx="3130732" cy="4247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600"/>
              </a:spcAft>
              <a:buSzPct val="100000"/>
              <a:buNone/>
            </a:pPr>
            <a:r>
              <a:rPr sz="1050" i="1">
                <a:solidFill>
                  <a:schemeClr val="bg1">
                    <a:lumMod val="50000"/>
                  </a:schemeClr>
                </a:solidFill>
              </a:rPr>
              <a:t>Marks are participation-only. Correctness never affects the grade.</a:t>
            </a:r>
          </a:p>
        </p:txBody>
      </p:sp>
      <p:sp>
        <p:nvSpPr>
          <p:cNvPr id="55" name="Text 9">
            <a:extLst xmlns:a="http://schemas.openxmlformats.org/drawingml/2006/main">
              <a:ext uri="{FF2B5EF4-FFF2-40B4-BE49-F238E27FC236}">
                <a16:creationId xmlns:a16="http://schemas.microsoft.com/office/drawing/2014/main" id="{84CA0753-03D2-AB45-8573-74576444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246" y="4876026"/>
            <a:ext cx="2313527" cy="2079440"/>
          </a:xfrm>
          <a:prstGeom xmlns:a="http://schemas.openxmlformats.org/drawingml/2006/main" prst="can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 w="1397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graphicFrame>
        <p:nvGraphicFramePr>
          <p:cNvPr id="98" name="Table 53"/>
          <p:cNvGraphicFramePr/>
          <p:nvPr/>
        </p:nvGraphicFramePr>
        <p:xfrm>
          <a:off xmlns:a="http://schemas.openxmlformats.org/drawingml/2006/main" x="10003429" y="5461620"/>
          <a:ext xmlns:a="http://schemas.openxmlformats.org/drawingml/2006/main" cx="2135907" cy="1219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42974"/>
                <a:gridCol w="534772"/>
                <a:gridCol w="958161"/>
              </a:tblGrid>
              <a:tr h="203820">
                <a:tc>
                  <a:txBody>
                    <a:bodyPr/>
                    <a:lstStyle/>
                    <a:p>
                      <a:r>
                        <a:rPr sz="1000"/>
                        <a:t>RepoID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folder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answers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820">
                <a:tc>
                  <a:txBody>
                    <a:bodyPr/>
                    <a:lstStyle/>
                    <a:p>
                      <a:r>
                        <a:rPr sz="1000"/>
                        <a:t>sjdivn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[A, B, C, B, A]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820">
                <a:tc>
                  <a:txBody>
                    <a:bodyPr/>
                    <a:lstStyle/>
                    <a:p>
                      <a:r>
                        <a:rPr sz="1000"/>
                        <a:t>ejhud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[D, B, C, C, A]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820">
                <a:tc>
                  <a:txBody>
                    <a:bodyPr/>
                    <a:lstStyle/>
                    <a:p>
                      <a:r>
                        <a:rPr sz="1000"/>
                        <a:t>cjudfc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[A, B, D, B, B]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820">
                <a:tc>
                  <a:txBody>
                    <a:bodyPr/>
                    <a:lstStyle/>
                    <a:p>
                      <a:r>
                        <a:rPr sz="1000"/>
                        <a:t>wjdui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/>
                        <a:t>[B, B, C, B, D]</a:t>
                      </a:r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3E9675C6-0F7C-8DF7-305E-561DA1F6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196" y="4963186"/>
            <a:ext cx="1864573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0384A"/>
                </a:solidFill>
              </a:rPr>
              <a:t>RepoProof stores: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29544F99-76D1-B921-03DB-9F402C08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642" y="1619791"/>
            <a:ext cx="3044263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/>
              <a:t>A1</a:t>
            </a:r>
            <a:r>
              <a:rPr sz="1200"/>
              <a:t> Understanding Quiz: </a:t>
            </a:r>
            <a:r>
              <a:rPr sz="1200">
                <a:latin typeface="Candara"/>
                <a:ea typeface="Candara"/>
                <a:cs typeface="Candara"/>
              </a:rPr>
              <a:t>sjdivn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C7E24031-9BF4-2BFC-B198-87B5D643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346" y="1834881"/>
            <a:ext cx="2291255" cy="4411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1. Customised Question</a:t>
            </a:r>
          </a:p>
        </p:txBody>
      </p:sp>
    </p:spTree>
    <p:extLst>
      <p:ext uri="{BB962C8B-B14F-4D97-AF65-F5344CB8AC3E}">
        <p14:creationId xmlns:p14="http://schemas.microsoft.com/office/powerpoint/2010/main" val="486157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98C955-D5B5-4051-8013-D3C12AAA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2430"/>
                </a:solidFill>
              </a:rPr>
              <a:t>What RepoProof retains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46D8E2-E954-4216-B632-EE42BFF2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143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785"/>
                </a:solidFill>
              </a:rPr>
              <a:t>The 2% is never tied to research data. At the 1-month cutoff, individual data is de-identified (not deleted); aggregates kept indefinitely.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663DA40-354C-42CB-9563-52C3F51E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989320"/>
            <a:ext cx="11430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C7A4B"/>
                </a:solidFill>
              </a:rPr>
              <a:t>Operational</a:t>
            </a:r>
            <a:r>
              <a:rPr sz="1000">
                <a:solidFill>
                  <a:srgbClr val="6B7785"/>
                </a:solidFill>
              </a:rPr>
              <a:t>  = necessary for teaching, auto-deleted.    </a:t>
            </a:r>
            <a:r>
              <a:rPr sz="1000" b="1">
                <a:solidFill>
                  <a:srgbClr val="2E6F8E"/>
                </a:solidFill>
              </a:rPr>
              <a:t>Opt-in retained</a:t>
            </a:r>
            <a:r>
              <a:rPr sz="1000">
                <a:solidFill>
                  <a:srgbClr val="6B7785"/>
                </a:solidFill>
              </a:rPr>
              <a:t>  = evaluate &amp; improve this unit (COMP5339), explicit consent, revocable, own deletion date.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295471" y="1125373"/>
          <a:ext xmlns:a="http://schemas.openxmlformats.org/drawingml/2006/main" cx="11151055" cy="435133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6712"/>
                <a:gridCol w="2357610"/>
                <a:gridCol w="2390660"/>
                <a:gridCol w="2214390"/>
                <a:gridCol w="1751683"/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Retention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Consent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>
                          <a:solidFill>
                            <a:schemeClr val="bg1"/>
                          </a:solidFill>
                        </a:rPr>
                        <a:t>Identifiability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/>
                        <a:t>Original submission</a:t>
                      </a:r>
                      <a:r>
                        <a:rPr sz="1400"/>
                        <a:t> </a:t>
                      </a:r>
                      <a:br/>
                      <a:r>
                        <a:rPr sz="1400"/>
                        <a:t>(notebook / project files)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D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/>
                        <a:buChar char="•"/>
                      </a:pPr>
                      <a:r>
                        <a:rPr sz="1400"/>
                        <a:t>Generate questions</a:t>
                      </a:r>
                    </a:p>
                    <a:p>
                      <a:pPr marL="228600" indent="-228600">
                        <a:buFont typeface="Arial"/>
                        <a:buChar char="•"/>
                      </a:pPr>
                      <a:r>
                        <a:rPr sz="1400"/>
                        <a:t>quiz appealing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D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/>
                        <a:t>Deleted 1 month after quiz deadline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D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Operational (not required)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D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RepoID</a:t>
                      </a:r>
                      <a:r>
                        <a:rPr sz="1400"/>
                        <a:t> (pseudonymous)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D8DA">
                        <a:alpha val="50196"/>
                      </a:srgbClr>
                    </a:solidFill>
                  </a:tcPr>
                </a:tc>
              </a:tr>
              <a:tr h="1160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Extracted code representation (functions, classes, module/call graph, complexity) — no verbatim code in 5-yr set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Arial"/>
                        <a:buChar char="•"/>
                      </a:pPr>
                      <a:r>
                        <a:rPr sz="1400"/>
                        <a:t>Reproduce generation </a:t>
                      </a:r>
                    </a:p>
                    <a:p>
                      <a:pPr marL="185738" indent="-185738">
                        <a:buFont typeface="Arial"/>
                        <a:buChar char="•"/>
                      </a:pPr>
                      <a:r>
                        <a:rPr sz="1400"/>
                        <a:t>improve this unit's tool</a:t>
                      </a:r>
                    </a:p>
                    <a:p>
                      <a:pPr marL="185738" indent="-185738">
                        <a:buFont typeface="Arial"/>
                        <a:buChar char="•"/>
                      </a:pPr>
                      <a:r>
                        <a:rPr sz="1400"/>
                        <a:t>aggregate understanding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/>
                        <a:t>De-identified at 1 mo · retained 5 yrs on RDS (opt-in, CARE)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Opt-in · revocable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De-identified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Quiz answers (no mark impact)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288" indent="-141288">
                        <a:buFont typeface="Arial"/>
                        <a:buChar char="•"/>
                      </a:pPr>
                      <a:r>
                        <a:rPr sz="1400"/>
                        <a:t>Live immediate feedback</a:t>
                      </a:r>
                    </a:p>
                    <a:p>
                      <a:pPr marL="141288" indent="-141288">
                        <a:buFont typeface="Arial"/>
                        <a:buChar char="•"/>
                      </a:pPr>
                      <a:r>
                        <a:rPr sz="1400"/>
                        <a:t>understanding analysis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Feedback/dispute ≈1 month · </a:t>
                      </a:r>
                      <a:r>
                        <a:rPr sz="1400" b="1"/>
                        <a:t>retained (opt-in), de-identified — 5 yrs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Feedback = operational; retention = opt-in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RepoID → de-identified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Coarse timestamp / duration (to the hour)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Arial"/>
                        <a:buChar char="•"/>
                      </a:pPr>
                      <a:r>
                        <a:rPr sz="1400"/>
                        <a:t>Understanding analysis (aggregation) for lecturer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Retained (opt-in) — 5 yrs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Opt-in · revocable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Aggregate, min group ≥ 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Optional survey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buFont typeface="Arial"/>
                        <a:buChar char="•"/>
                      </a:pPr>
                      <a:r>
                        <a:rPr sz="1400"/>
                        <a:t>Improve this unit's tool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Retained (5 yrs)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Opt-in · anonymous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Anonymous (not linked to RepoID)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8FF">
                        <a:alpha val="50196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899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AF7F450-4FA2-68F3-97E8-D15A7E11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1" y="693969"/>
            <a:ext cx="7513318" cy="59491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196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2B42DBC-7A3A-6424-3590-39112F9C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763"/>
            <a:ext cx="6096000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What the retained data actually looks like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42065E-444A-9887-DCDA-30888B27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1" y="693969"/>
            <a:ext cx="4145280" cy="59491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50196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1788D12-66BD-DBA2-1580-55FDC1E8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61" y="1445214"/>
            <a:ext cx="4656379" cy="21390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c0  structure     -                  Project file structure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c1  imports 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Imports in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c2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module_var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Constant MAX_DAILY_TRANSFER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c3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module_var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Constant SUPPORT_URL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c4  class   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Class Transaction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c5  class   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Class Account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c6  function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Function money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c7  function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Function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Account._record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c8  function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Function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Account.deposit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c9  function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Function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Account.withdraw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  c10  function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Function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Account.statement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  c11  function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Function transfer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  c12  source  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BankService.java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  Java file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BankService.java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(lines 1-70)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  c13  flow        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          Call flow from transfer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  c14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callgraph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    -                  Approximate call graph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  c15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module_graph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-                  Module graph summary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  c16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symbol_table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-                  Symbol table summary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  c17  complexity    -                  Static complexity indicators</a:t>
            </a:r>
          </a:p>
          <a:p xmlns:a="http://schemas.openxmlformats.org/drawingml/2006/main">
            <a:pPr marL="0" marR="0">
              <a:buNone/>
            </a:pP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  c18 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sql_analysis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  -                  SQL analysis summary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1a0caafb94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520" y="2313113"/>
            <a:ext cx="3337560" cy="4177133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9F176A0-5F56-B33D-4415-A511C12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1" y="860175"/>
            <a:ext cx="3958996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assignment Folder student uploaded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8F50987-F5CF-58DD-009D-8813F078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" y="1268290"/>
            <a:ext cx="4319981" cy="10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solidFill>
                  <a:schemeClr val="tx1"/>
                </a:solidFill>
              </a:rPr>
              <a:t>Purpose: for answering student concerns about assessment question</a:t>
            </a: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>
                <a:solidFill>
                  <a:schemeClr val="accent1"/>
                </a:solidFill>
              </a:rPr>
              <a:t>Delete: 1 month after quiz deadline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BF88295-0F71-CD64-74A4-C5498913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1" y="860175"/>
            <a:ext cx="3958996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chunks of programming code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B26A8C1-5CF0-12E5-FF80-A2CAD755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1" y="860175"/>
            <a:ext cx="2392679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student answer</a:t>
            </a:r>
          </a:p>
        </p:txBody>
      </p:sp>
      <p:graphicFrame>
        <p:nvGraphicFramePr>
          <p:cNvPr id="34" name="Table 18"/>
          <p:cNvGraphicFramePr/>
          <p:nvPr/>
        </p:nvGraphicFramePr>
        <p:xfrm>
          <a:off xmlns:a="http://schemas.openxmlformats.org/drawingml/2006/main" x="9357361" y="1443483"/>
          <a:ext xmlns:a="http://schemas.openxmlformats.org/drawingml/2006/main" cx="2392679" cy="22250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60837"/>
                <a:gridCol w="1431842"/>
              </a:tblGrid>
              <a:tr h="370840">
                <a:tc>
                  <a:txBody>
                    <a:bodyPr/>
                    <a:lstStyle/>
                    <a:p>
                      <a:r>
                        <a:rPr sz="1600"/>
                        <a:t>RepoID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answers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600"/>
                        <a:t>sjdivn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[A, B, C, B, A]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600"/>
                        <a:t>ejhud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/>
                        <a:t>[D, B, C, C, A]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600"/>
                        <a:t>cjudfc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/>
                        <a:t>[A, B, D, B, B]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600"/>
                        <a:t>wjdui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/>
                        <a:t>[B, B, C, B, D]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600"/>
                        <a:t>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/>
                        <a:t>…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C88BFF5-72D6-2C39-33A6-16B3ABEC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1" y="4030095"/>
            <a:ext cx="2392679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feedback survey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DCEAE7E-43E1-A0D6-F640-AA4E048D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1" y="4602480"/>
            <a:ext cx="2392679" cy="16359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73541"/>
                </a:solidFill>
              </a:rPr>
              <a:t>optional participation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E1A0F51-B3B3-1307-B897-443398A3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61" y="3905385"/>
            <a:ext cx="4656379" cy="256993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"id": "c6",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"kind": "function",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"title": "Function money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"text": "Function money in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(lines 14-22).\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nParameters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: value.\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nDocstring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: Normalize an input amount and reject values with more than two decimals.\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nCode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:\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ndef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money(value: str | int | Decimal) -&gt; Decimal:\n    \"\"\"Normalize an input amount and reject values with more than two decimals.\"\"\"\n    try:\n        amount = Decimal(str(value)).quantize(Decimal(\"0.01\"))\n    except (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InvalidOperation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,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ValueError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) as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exc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:\n        raise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ValueError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(f\"invalid money amount: {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value!r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}\") from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exc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\n    if amount &lt; 0:\n        raise 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ValueError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(\"amount cannot be negative\")\n    return amount",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"file": "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bank.py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start_line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": 14,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end_line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": 22,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"snapshot": "local-test",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"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evidence_types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": [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"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symbol_table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"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data_flow_graph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",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"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control_flow_graph</a:t>
            </a:r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"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  ]</a:t>
            </a:r>
          </a:p>
          <a:p xmlns:a="http://schemas.openxmlformats.org/drawingml/2006/main">
            <a:r>
              <a:rPr sz="700">
                <a:solidFill>
                  <a:srgbClr val="000000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D21D6C-64AD-92EC-17D2-F9BD93B3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07" y="2090057"/>
            <a:ext cx="4278086" cy="180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chemeClr val="accent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39" name="Straight Arrow Connector 6"/>
          <p:cNvCxnSpPr/>
          <p:nvPr/>
        </p:nvCxnSpPr>
        <p:spPr>
          <a:xfrm xmlns:a="http://schemas.openxmlformats.org/drawingml/2006/main">
            <a:off x="5047639" y="2270759"/>
            <a:ext cx="0" cy="163462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chemeClr val="accent5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2823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CBD451-E417-4B50-942E-75CC88AF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11430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2430"/>
                </a:solidFill>
              </a:rPr>
              <a:t>How it fits CARE — and what's left to confirm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3E210A-F1C3-406B-8866-C8FE659F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76656"/>
            <a:ext cx="11430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785"/>
                </a:solidFill>
              </a:rPr>
              <a:t>Covered by the CARE umbrella ethics (2025/HE001132) as a prospective sub-study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882B15-1FBE-41BB-A2C8-E8961201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97280"/>
            <a:ext cx="11430000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C6CF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291875-18E9-424D-B48C-B3A26966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7B6C"/>
                </a:solidFill>
              </a:rPr>
              <a:t>Safeguards   </a:t>
            </a:r>
            <a:r>
              <a:rPr sz="1100">
                <a:solidFill>
                  <a:srgbClr val="1B2430"/>
                </a:solidFill>
              </a:rPr>
              <a:t>participation-only (2%)  ·  human-approved  ·  SID never leaves USYD  ·  local model only  ·  withdraw by RepoID until the 1-month cutoff  ·  aggregate-only (min group ≥ 5)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7E63A2B-0F50-47FF-BB51-680E7467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810512"/>
            <a:ext cx="11430000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EEF4"/>
          </a:solidFill>
          <a:ln xmlns:a="http://schemas.openxmlformats.org/drawingml/2006/main" w="9525">
            <a:solidFill>
              <a:srgbClr val="2E6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655EA9-926B-45E7-844C-3DCA384D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47088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2E6F8E"/>
                </a:solidFill>
              </a:rPr>
              <a:t>CARE mapping   </a:t>
            </a:r>
            <a:r>
              <a:rPr sz="1100">
                <a:solidFill>
                  <a:srgbClr val="1B2430"/>
                </a:solidFill>
              </a:rPr>
              <a:t>research retention → opt-in (explicit consent)  ·  2% participation unaffected  ·  analysis on de-identified data  ·  retained 5 yrs on University Research Data Store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619058D-F5BE-4F2A-A468-B9A25B9E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615184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B1A4E9-AB43-422F-AB2E-6B4342A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24912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C7F5491-1099-4951-B3FF-8DFD3113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24912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Independent de-identification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958A52D-6212-46DF-BE88-DF5588EC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706624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050">
                <a:solidFill>
                  <a:srgbClr val="1B2430"/>
                </a:solidFill>
              </a:rPr>
              <a:t>A CARE staff member outside the research team holds the SID ↔ RepoID list and de-identifies data before analysis (also resolves the conflict of interest).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FDEC328-2CA1-40FD-AE97-3A6A7959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566160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D588CC-58E8-451B-95F6-2984A08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75888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0CD09D2-26C7-4B25-81F5-7C404D27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75888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Conflict-of-interest oversight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BA8D004-DCDA-42E4-8A4A-0EEB3E66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57600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050">
                <a:solidFill>
                  <a:srgbClr val="1B2430"/>
                </a:solidFill>
              </a:rPr>
              <a:t>Tool built by an enrolled student; supervisor is the unit lecturer. Independent sign-off, students informed, and participation cannot affect standing.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56960DF-64D0-4C03-83D6-BFBCD49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517136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82FBC9A-11DD-4616-929B-1DDB7B6B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26864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F410D9C-C716-4F5D-8A34-A2274498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26864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Student code &amp; IP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C9ABEB3-19A0-46AE-AE2C-F2E8886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08576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050">
                <a:solidFill>
                  <a:schemeClr val="accent1"/>
                </a:solidFill>
              </a:rPr>
              <a:t>Which PIS/Consent wording licenses retaining a de-identified representation to evaluate &amp; improve this unit (COMP5339), including future semesters?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F73038F-F138-43CF-A6DA-AB45C527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468112"/>
            <a:ext cx="114300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F6EA"/>
          </a:solidFill>
          <a:ln xmlns:a="http://schemas.openxmlformats.org/drawingml/2006/main" w="9525">
            <a:solidFill>
              <a:srgbClr val="C986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6D09BAA-E074-4FD2-8A62-F68E3C61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77840"/>
            <a:ext cx="457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C9862B"/>
                </a:solidFill>
              </a:rPr>
              <a:t>4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6B6398F-F9D4-4F18-9786-3F0F5BB2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77840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5C3B0B"/>
                </a:solidFill>
              </a:rPr>
              <a:t>Unit coverage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F889722-6164-424A-8E38-298D596D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5559552"/>
            <a:ext cx="7452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050">
                <a:solidFill>
                  <a:schemeClr val="accent1"/>
                </a:solidFill>
              </a:rPr>
              <a:t>Confirm COMP5339 is on the CARE Programs &amp; Units list, so the sub-study is in scope.</a:t>
            </a:r>
          </a:p>
        </p:txBody>
      </p:sp>
    </p:spTree>
    <p:extLst>
      <p:ext uri="{BB962C8B-B14F-4D97-AF65-F5344CB8AC3E}">
        <p14:creationId xmlns:p14="http://schemas.microsoft.com/office/powerpoint/2010/main" val="2112549670"/>
      </p:ext>
    </p:extLst>
  </p:cSld>
</p:sld>
</file>

<file path=ppt/theme/theme1.xml><?xml version="1.0" encoding="utf-8"?>
<a:theme xmlns:a="http://schemas.openxmlformats.org/drawingml/2006/main" name="Office Theme">
  <a:themeElements>
    <a:clrScheme name="Rainbow">
      <a:dk1>
        <a:srgbClr val="000000"/>
      </a:dk1>
      <a:lt1>
        <a:srgbClr val="FFFFFF"/>
      </a:lt1>
      <a:dk2>
        <a:srgbClr val="FE8429"/>
      </a:dk2>
      <a:lt2>
        <a:srgbClr val="24A57F"/>
      </a:lt2>
      <a:accent1>
        <a:srgbClr val="FA3A48"/>
      </a:accent1>
      <a:accent2>
        <a:srgbClr val="FDB80F"/>
      </a:accent2>
      <a:accent3>
        <a:srgbClr val="1EA24E"/>
      </a:accent3>
      <a:accent4>
        <a:srgbClr val="21A5A5"/>
      </a:accent4>
      <a:accent5>
        <a:srgbClr val="248EFD"/>
      </a:accent5>
      <a:accent6>
        <a:srgbClr val="675DEC"/>
      </a:accent6>
      <a:hlink>
        <a:srgbClr val="AB5EEB"/>
      </a:hlink>
      <a:folHlink>
        <a:srgbClr val="E263EB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ainbow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2026-07-29T04:24:50.4500000Z</dcterms:created>
  <dcterms:modified xsi:type="dcterms:W3CDTF">2026-07-29T04:24:50.4510000Z</dcterms:modified>
</coreProperties>
</file>