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acd402c4d4da0" /><Relationship Type="http://schemas.openxmlformats.org/officeDocument/2006/relationships/extended-properties" Target="/docProps/app.xml" Id="R454c204c10ae4367" /><Relationship Type="http://schemas.openxmlformats.org/officeDocument/2006/relationships/officeDocument" Target="/ppt/presentation.xml" Id="R3660edf687ec46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d45590e14468d"/>
  </p:sldMasterIdLst>
  <p:notesMasterIdLst>
    <p:notesMasterId xmlns:r="http://schemas.openxmlformats.org/officeDocument/2006/relationships" r:id="R1dd5e56ad5ae4b31"/>
  </p:notesMasterIdLst>
  <p:sldIdLst>
    <p:sldId xmlns:r="http://schemas.openxmlformats.org/officeDocument/2006/relationships" id="256" r:id="Rb3c48478fcae48f8"/>
    <p:sldId xmlns:r="http://schemas.openxmlformats.org/officeDocument/2006/relationships" id="257" r:id="R40f20bd679c24ef1"/>
    <p:sldId xmlns:r="http://schemas.openxmlformats.org/officeDocument/2006/relationships" id="258" r:id="Rb1e458d762d640a7"/>
    <p:sldId xmlns:r="http://schemas.openxmlformats.org/officeDocument/2006/relationships" id="259" r:id="R6866d8f56cfa4ad6"/>
    <p:sldId xmlns:r="http://schemas.openxmlformats.org/officeDocument/2006/relationships" id="260" r:id="R053addc543d14d40"/>
    <p:sldId xmlns:r="http://schemas.openxmlformats.org/officeDocument/2006/relationships" id="261" r:id="Rce31198f3864471a"/>
    <p:sldId xmlns:r="http://schemas.openxmlformats.org/officeDocument/2006/relationships" id="262" r:id="Rf3190a9a56a84440"/>
    <p:sldId xmlns:r="http://schemas.openxmlformats.org/officeDocument/2006/relationships" id="263" r:id="Reb58685e47574e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e1104222894d89" /><Relationship Type="http://schemas.openxmlformats.org/officeDocument/2006/relationships/slideMaster" Target="/ppt/slideMasters/slideMaster1.xml" Id="R99cd45590e14468d" /><Relationship Type="http://schemas.openxmlformats.org/officeDocument/2006/relationships/notesMaster" Target="/ppt/notesMasters/notesMaster1.xml" Id="R1dd5e56ad5ae4b31" /><Relationship Type="http://schemas.openxmlformats.org/officeDocument/2006/relationships/presProps" Target="/ppt/presProps.xml" Id="Rd871778156844f34" /><Relationship Type="http://schemas.openxmlformats.org/officeDocument/2006/relationships/viewProps" Target="/ppt/viewProps.xml" Id="R786bb29fcf704223" /><Relationship Type="http://schemas.openxmlformats.org/officeDocument/2006/relationships/tableStyles" Target="/ppt/tableStyles.xml" Id="Ra9a5674ab9e848e7" /><Relationship Type="http://schemas.openxmlformats.org/officeDocument/2006/relationships/slide" Target="/ppt/slides/slide1.xml" Id="Rb3c48478fcae48f8" /><Relationship Type="http://schemas.openxmlformats.org/officeDocument/2006/relationships/slide" Target="/ppt/slides/slide2.xml" Id="R40f20bd679c24ef1" /><Relationship Type="http://schemas.openxmlformats.org/officeDocument/2006/relationships/slide" Target="/ppt/slides/slide3.xml" Id="Rb1e458d762d640a7" /><Relationship Type="http://schemas.openxmlformats.org/officeDocument/2006/relationships/slide" Target="/ppt/slides/slide4.xml" Id="R6866d8f56cfa4ad6" /><Relationship Type="http://schemas.openxmlformats.org/officeDocument/2006/relationships/slide" Target="/ppt/slides/slide5.xml" Id="R053addc543d14d40" /><Relationship Type="http://schemas.openxmlformats.org/officeDocument/2006/relationships/slide" Target="/ppt/slides/slide6.xml" Id="Rce31198f3864471a" /><Relationship Type="http://schemas.openxmlformats.org/officeDocument/2006/relationships/slide" Target="/ppt/slides/slide7.xml" Id="Rf3190a9a56a84440" /><Relationship Type="http://schemas.openxmlformats.org/officeDocument/2006/relationships/slide" Target="/ppt/slides/slide8.xml" Id="Reb58685e47574e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fb95e052c749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ainbow">
      <a:dk1>
        <a:srgbClr val="000000"/>
      </a:dk1>
      <a:lt1>
        <a:srgbClr val="FFFFFF"/>
      </a:lt1>
      <a:dk2>
        <a:srgbClr val="FE8429"/>
      </a:dk2>
      <a:lt2>
        <a:srgbClr val="24A57F"/>
      </a:lt2>
      <a:accent1>
        <a:srgbClr val="FA3A48"/>
      </a:accent1>
      <a:accent2>
        <a:srgbClr val="FDB80F"/>
      </a:accent2>
      <a:accent3>
        <a:srgbClr val="1EA24E"/>
      </a:accent3>
      <a:accent4>
        <a:srgbClr val="21A5A5"/>
      </a:accent4>
      <a:accent5>
        <a:srgbClr val="248EFD"/>
      </a:accent5>
      <a:accent6>
        <a:srgbClr val="675DEC"/>
      </a:accent6>
      <a:hlink>
        <a:srgbClr val="AB5EEB"/>
      </a:hlink>
      <a:folHlink>
        <a:srgbClr val="E263EB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ainb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5dd016ad44a09" /><Relationship Type="http://schemas.openxmlformats.org/officeDocument/2006/relationships/notesMaster" Target="/ppt/notesMasters/notesMaster1.xml" Id="R85626625354542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89d7619c04bfd" /><Relationship Type="http://schemas.openxmlformats.org/officeDocument/2006/relationships/notesMaster" Target="/ppt/notesMasters/notesMaster1.xml" Id="Rb253a592e72747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a0882a84a54bcb" /><Relationship Type="http://schemas.openxmlformats.org/officeDocument/2006/relationships/notesMaster" Target="/ppt/notesMasters/notesMaster1.xml" Id="Ra44ddc01fc5249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6870bbb01646dd" /><Relationship Type="http://schemas.openxmlformats.org/officeDocument/2006/relationships/notesMaster" Target="/ppt/notesMasters/notesMaster1.xml" Id="R008ad12b5a194b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b349827f0e4670" /><Relationship Type="http://schemas.openxmlformats.org/officeDocument/2006/relationships/notesMaster" Target="/ppt/notesMasters/notesMaster1.xml" Id="R2b33f15baa6e48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d2c3a75581425b" /><Relationship Type="http://schemas.openxmlformats.org/officeDocument/2006/relationships/notesMaster" Target="/ppt/notesMasters/notesMaster1.xml" Id="Rb45093d9282c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ac04a33e4d4797" /><Relationship Type="http://schemas.openxmlformats.org/officeDocument/2006/relationships/notesMaster" Target="/ppt/notesMasters/notesMaster1.xml" Id="R40021cdd591649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0d52ea26ea4174" /><Relationship Type="http://schemas.openxmlformats.org/officeDocument/2006/relationships/notesMaster" Target="/ppt/notesMasters/notesMaster1.xml" Id="R4012547b78bd45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RepoProof is — A learning-comprehension check, not an AI-authorship detector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 - Substudy guidelines v1c 2026-05-13.docx</a:t>
            </a:r>
          </a:p>
          <a:p xmlns:a="http://schemas.openxmlformats.org/drawingml/2006/main">
            <a:r>
              <a:t>- CARE - Substudy (Prospective) PIS v1b 2025-08-15.docx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Identity separation — Students click a personalised link; their SID never reaches RepoProof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 - Substudy guidelines v1c 2026-05-13.docx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 - Substudy guidelines v1c 2026-05-13.docx</a:t>
            </a:r>
          </a:p>
          <a:p xmlns:a="http://schemas.openxmlformats.org/drawingml/2006/main">
            <a:r>
              <a:t>- CARE - Substudy (Prospective) PIS v1b 2025-08-15.docx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RepoProof proposed data-minimisation design</a:t>
            </a:r>
          </a:p>
          <a:p xmlns:a="http://schemas.openxmlformats.org/drawingml/2006/main">
            <a:r>
              <a:t>- CARE - Substudy guidelines v1c 2026-05-13.docx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 - Substudy guidelines v1c 2026-05-13.docx</a:t>
            </a:r>
          </a:p>
          <a:p xmlns:a="http://schemas.openxmlformats.org/drawingml/2006/main">
            <a:r>
              <a:t>- CARE Umbrella Ethics - Sub-Study proposal (v1a).pdf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app/config.py</a:t>
            </a:r>
          </a:p>
          <a:p xmlns:a="http://schemas.openxmlformats.org/drawingml/2006/main">
            <a:r>
              <a:t>- app/db.py</a:t>
            </a:r>
          </a:p>
          <a:p xmlns:a="http://schemas.openxmlformats.org/drawingml/2006/main">
            <a:r>
              <a:t>- app/main.py</a:t>
            </a:r>
          </a:p>
          <a:p xmlns:a="http://schemas.openxmlformats.org/drawingml/2006/main">
            <a:r>
              <a:t>- docs/解釋.md</a:t>
            </a:r>
          </a:p>
          <a:p xmlns:a="http://schemas.openxmlformats.org/drawingml/2006/main">
            <a:r>
              <a:t>- docs/flow/2 Project Intake.md</a:t>
            </a:r>
          </a:p>
          <a:p xmlns:a="http://schemas.openxmlformats.org/drawingml/2006/main">
            <a:r>
              <a:t>- docs/flow/6 Structured Path.md</a:t>
            </a:r>
          </a:p>
          <a:p xmlns:a="http://schemas.openxmlformats.org/drawingml/2006/main">
            <a:r>
              <a:t>- docs/flow/7 Persistence.md</a:t>
            </a:r>
          </a:p>
          <a:p xmlns:a="http://schemas.openxmlformats.org/drawingml/2006/main">
            <a:r>
              <a:t>- docs/flow/8-2 Take and Score.md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810fdd90646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c6bd983c5490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5AB274-8C25-205A-A564-2E3F15F24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72CF07-B5D8-F497-4DBC-B351F41023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6509C4-8D59-9726-2412-4848D08641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D962FE-3286-4E4E-8634-C5401030A5A7}" type="datetimeFigureOut">
              <a:t>7/29/26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93AB1E-09BB-6ED0-2E56-27BB6196C0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F1E6F9-8ABA-E455-EF36-60E4691F5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BD9D55-6F53-2B4D-B934-8553785FAC82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bc093a00d2454d" /><Relationship Type="http://schemas.openxmlformats.org/officeDocument/2006/relationships/slideLayout" Target="/ppt/slideLayouts/slideLayout1.xml" Id="R24a3171e7c574b10" /><Relationship Type="http://schemas.openxmlformats.org/officeDocument/2006/relationships/slideLayout" Target="/ppt/slideLayouts/slideLayout2.xml" Id="R20ede356198e41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3171e7c574b10"/>
    <p:sldLayoutId xmlns:r="http://schemas.openxmlformats.org/officeDocument/2006/relationships" id="2147483650" r:id="R20ede356198e41a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ainbow">
      <a:dk1>
        <a:srgbClr val="000000"/>
      </a:dk1>
      <a:lt1>
        <a:srgbClr val="FFFFFF"/>
      </a:lt1>
      <a:dk2>
        <a:srgbClr val="FE8429"/>
      </a:dk2>
      <a:lt2>
        <a:srgbClr val="24A57F"/>
      </a:lt2>
      <a:accent1>
        <a:srgbClr val="FA3A48"/>
      </a:accent1>
      <a:accent2>
        <a:srgbClr val="FDB80F"/>
      </a:accent2>
      <a:accent3>
        <a:srgbClr val="1EA24E"/>
      </a:accent3>
      <a:accent4>
        <a:srgbClr val="21A5A5"/>
      </a:accent4>
      <a:accent5>
        <a:srgbClr val="248EFD"/>
      </a:accent5>
      <a:accent6>
        <a:srgbClr val="675DEC"/>
      </a:accent6>
      <a:hlink>
        <a:srgbClr val="AB5EEB"/>
      </a:hlink>
      <a:folHlink>
        <a:srgbClr val="E263EB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ainb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d834737a64307" /><Relationship Type="http://schemas.openxmlformats.org/officeDocument/2006/relationships/notesSlide" Target="/ppt/notesSlides/notesSlide1.xml" Id="Rf13f139b0d8b40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53444ca8a4543" /><Relationship Type="http://schemas.openxmlformats.org/officeDocument/2006/relationships/image" Target="/ppt/media/image.png" Id="Re5fee1a809694165" /><Relationship Type="http://schemas.openxmlformats.org/officeDocument/2006/relationships/image" Target="/ppt/media/image2.png" Id="Rbe6fa741d66d43fa" /><Relationship Type="http://schemas.openxmlformats.org/officeDocument/2006/relationships/image" Target="/ppt/media/image3.png" Id="R8bf70fd2e8fe4aef" /><Relationship Type="http://schemas.openxmlformats.org/officeDocument/2006/relationships/image" Target="/ppt/media/image4.png" Id="R73a9a29ce10147dc" /><Relationship Type="http://schemas.openxmlformats.org/officeDocument/2006/relationships/image" Target="/ppt/media/image5.png" Id="R77816cf69a574533" /><Relationship Type="http://schemas.openxmlformats.org/officeDocument/2006/relationships/notesSlide" Target="/ppt/notesSlides/notesSlide2.xml" Id="R2f7e815d061f41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b2d3959084093" /><Relationship Type="http://schemas.openxmlformats.org/officeDocument/2006/relationships/image" Target="/ppt/media/image6.png" Id="R01329fe3878b4d2d" /><Relationship Type="http://schemas.openxmlformats.org/officeDocument/2006/relationships/image" Target="/ppt/media/image7.png" Id="Rf2e1c05b7ef84384" /><Relationship Type="http://schemas.openxmlformats.org/officeDocument/2006/relationships/image" Target="/ppt/media/image8.png" Id="Ra4bbaa15e9184157" /><Relationship Type="http://schemas.openxmlformats.org/officeDocument/2006/relationships/notesSlide" Target="/ppt/notesSlides/notesSlide3.xml" Id="R64047b3be8d347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99c5728594b67" /><Relationship Type="http://schemas.openxmlformats.org/officeDocument/2006/relationships/image" Target="/ppt/media/image9.png" Id="Rfa25b4ed92324c2e" /><Relationship Type="http://schemas.openxmlformats.org/officeDocument/2006/relationships/image" Target="/ppt/media/image10.png" Id="R0184f256c7cd4061" /><Relationship Type="http://schemas.openxmlformats.org/officeDocument/2006/relationships/hyperlink" Target="https://repoproof.chingyu.site/a/eE9I49oL1cE" TargetMode="External" Id="R29a3b03a7de8466c" /><Relationship Type="http://schemas.openxmlformats.org/officeDocument/2006/relationships/image" Target="/ppt/media/image11.png" Id="R58fa5c414f3b4060" /><Relationship Type="http://schemas.openxmlformats.org/officeDocument/2006/relationships/notesSlide" Target="/ppt/notesSlides/notesSlide4.xml" Id="R3b1c18204b3843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144b19cfb4d8e" /><Relationship Type="http://schemas.openxmlformats.org/officeDocument/2006/relationships/notesSlide" Target="/ppt/notesSlides/notesSlide5.xml" Id="R9373116bc98f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6c92f7fea24442" /><Relationship Type="http://schemas.openxmlformats.org/officeDocument/2006/relationships/image" Target="/ppt/media/image12.png" Id="R3a31e133178648a9" /><Relationship Type="http://schemas.openxmlformats.org/officeDocument/2006/relationships/notesSlide" Target="/ppt/notesSlides/notesSlide6.xml" Id="R7ec56553a30a4b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44dc1098754de4" /><Relationship Type="http://schemas.openxmlformats.org/officeDocument/2006/relationships/notesSlide" Target="/ppt/notesSlides/notesSlide7.xml" Id="R05d46de8220446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4ffb2ff47640db" /><Relationship Type="http://schemas.openxmlformats.org/officeDocument/2006/relationships/notesSlide" Target="/ppt/notesSlides/notesSlide8.xml" Id="Rb84e1f4dbde04a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4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492CEC-0702-43FE-810D-F8251EA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</a:rPr>
              <a:t>RepoProof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54FF5F-2C78-42A3-B191-F974E89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9FB3C8"/>
                </a:solidFill>
              </a:rPr>
              <a:t>Ethics &amp; Data-Protection Design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D1854E-5E7C-4D72-916A-159C1FAB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B7785"/>
                </a:solidFill>
              </a:rPr>
              <a:t>Consultation brief · proposed use in COMP5339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68B4C2-F135-4EEF-B5C5-58DA88F9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7A8AA0"/>
                </a:solidFill>
              </a:rPr>
              <a:t>Participation-only (2%)  ·  human-approved  ·  pseudonymous  ·  local model  ·  opt-in retention</a:t>
            </a:r>
          </a:p>
        </p:txBody>
      </p:sp>
    </p:spTree>
    <p:extLst>
      <p:ext uri="{BB962C8B-B14F-4D97-AF65-F5344CB8AC3E}">
        <p14:creationId xmlns:p14="http://schemas.microsoft.com/office/powerpoint/2010/main" val="35574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A8411870-D370-ABAC-D097-C0B24C2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7" y="4046838"/>
            <a:ext cx="9948672" cy="1680488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rgbClr val="D3E9FF">
              <a:alpha val="5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/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C4E909B-84C9-D22A-E176-310F719E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556" y="1570096"/>
            <a:ext cx="3261914" cy="889417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Tutor QA</a:t>
            </a:r>
          </a:p>
          <a:p xmlns:a="http://schemas.openxmlformats.org/drawingml/2006/main">
            <a:pPr marL="227013" indent="-227013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time consuming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E6BFE20-32BD-6FAA-AAFA-601F360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70096"/>
            <a:ext cx="2603333" cy="1248350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Lecture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Learn Concept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AF33AF-40C3-4FEB-97B2-1CE9624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8" y="620944"/>
            <a:ext cx="7406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6B7785"/>
                </a:solidFill>
              </a:rPr>
              <a:t>A customised learning-comprehension check</a:t>
            </a:r>
          </a:p>
        </p:txBody>
      </p:sp>
      <p:pic>
        <p:nvPicPr>
          <p:cNvPr id="223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ee1a8096941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2024542" y="1776821"/>
            <a:ext cx="739205" cy="739205"/>
          </a:xfrm>
          <a:prstGeom xmlns:a="http://schemas.openxmlformats.org/drawingml/2006/main" prst="rect">
            <a:avLst/>
          </a:prstGeom>
        </p:spPr>
      </p:pic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4B30E89-8D4B-C2BD-E805-8123D330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956" y="1570096"/>
            <a:ext cx="3261914" cy="1248350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Assignment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Practice</a:t>
            </a:r>
          </a:p>
          <a:p xmlns:a="http://schemas.openxmlformats.org/drawingml/2006/main">
            <a:pPr marL="222250" indent="-222250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free rider</a:t>
            </a:r>
          </a:p>
          <a:p xmlns:a="http://schemas.openxmlformats.org/drawingml/2006/main">
            <a:pPr marL="222250" indent="-222250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use AI without understanding</a:t>
            </a:r>
          </a:p>
        </p:txBody>
      </p:sp>
      <p:pic>
        <p:nvPicPr>
          <p:cNvPr id="22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a741d66d43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8993" y="2172434"/>
            <a:ext cx="275368" cy="275368"/>
          </a:xfrm>
          <a:prstGeom xmlns:a="http://schemas.openxmlformats.org/drawingml/2006/main" prst="rect">
            <a:avLst/>
          </a:prstGeom>
        </p:spPr>
      </p:pic>
      <p:pic>
        <p:nvPicPr>
          <p:cNvPr id="226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a741d66d43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8993" y="2459513"/>
            <a:ext cx="275368" cy="275368"/>
          </a:xfrm>
          <a:prstGeom xmlns:a="http://schemas.openxmlformats.org/drawingml/2006/main" prst="rect">
            <a:avLst/>
          </a:prstGeom>
        </p:spPr>
      </p:pic>
      <p:pic>
        <p:nvPicPr>
          <p:cNvPr id="22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70fd2e8fe4a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8929" y="1611982"/>
            <a:ext cx="935666" cy="935666"/>
          </a:xfrm>
          <a:prstGeom xmlns:a="http://schemas.openxmlformats.org/drawingml/2006/main" prst="rect">
            <a:avLst/>
          </a:prstGeom>
        </p:spPr>
      </p:pic>
      <p:pic>
        <p:nvPicPr>
          <p:cNvPr id="228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a741d66d43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1102" y="1915654"/>
            <a:ext cx="275368" cy="275368"/>
          </a:xfrm>
          <a:prstGeom xmlns:a="http://schemas.openxmlformats.org/drawingml/2006/main" prst="rect">
            <a:avLst/>
          </a:prstGeom>
        </p:spPr>
      </p:pic>
      <p:pic>
        <p:nvPicPr>
          <p:cNvPr id="22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9a29ce10147dc"/>
          <a:srcRect xmlns:a="http://schemas.openxmlformats.org/drawingml/2006/main" l="0" t="0" r="0" b="25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6216" y="1678888"/>
            <a:ext cx="968131" cy="716951"/>
          </a:xfrm>
          <a:prstGeom xmlns:a="http://schemas.openxmlformats.org/drawingml/2006/main" prst="rect">
            <a:avLst/>
          </a:prstGeom>
        </p:spPr>
      </p:pic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9F5C328-E169-53EC-E8AB-BC3AF856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556" y="2611496"/>
            <a:ext cx="3261914" cy="889417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RepoProof</a:t>
            </a:r>
          </a:p>
          <a:p xmlns:a="http://schemas.openxmlformats.org/drawingml/2006/main">
            <a:pPr marL="227013" indent="-227013">
              <a:buFont typeface="Arial"/>
              <a:buChar char="•"/>
            </a:pPr>
            <a:r>
              <a:rPr>
                <a:solidFill>
                  <a:schemeClr val="accent3"/>
                </a:solidFill>
              </a:rPr>
              <a:t>customised question</a:t>
            </a:r>
          </a:p>
          <a:p xmlns:a="http://schemas.openxmlformats.org/drawingml/2006/main">
            <a:pPr marL="227013" indent="-227013">
              <a:buFont typeface="Arial"/>
              <a:buChar char="•"/>
            </a:pPr>
            <a:r>
              <a:rPr sz="1600">
                <a:solidFill>
                  <a:schemeClr val="accent3"/>
                </a:solidFill>
              </a:rPr>
              <a:t>MCQ with explanation</a:t>
            </a:r>
          </a:p>
        </p:txBody>
      </p:sp>
      <p:sp>
        <p:nvSpPr>
          <p:cNvPr id="31" name="Right Arrow 30">
            <a:extLst xmlns:a="http://schemas.openxmlformats.org/drawingml/2006/main">
              <a:ext uri="{FF2B5EF4-FFF2-40B4-BE49-F238E27FC236}">
                <a16:creationId xmlns:a16="http://schemas.microsoft.com/office/drawing/2014/main" id="{27E8F0F1-647D-5CB5-9AFD-AE8A9A48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67" y="2017887"/>
            <a:ext cx="219458" cy="30909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ight Arrow 31">
            <a:extLst xmlns:a="http://schemas.openxmlformats.org/drawingml/2006/main">
              <a:ext uri="{FF2B5EF4-FFF2-40B4-BE49-F238E27FC236}">
                <a16:creationId xmlns:a16="http://schemas.microsoft.com/office/drawing/2014/main" id="{B3DB4F41-BCD2-643A-A6EF-B11A5871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082" y="1898791"/>
            <a:ext cx="219458" cy="309093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ight Arrow 32">
            <a:extLst xmlns:a="http://schemas.openxmlformats.org/drawingml/2006/main">
              <a:ext uri="{FF2B5EF4-FFF2-40B4-BE49-F238E27FC236}">
                <a16:creationId xmlns:a16="http://schemas.microsoft.com/office/drawing/2014/main" id="{72838B85-7015-BDCB-E725-51C6BEE8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082" y="2873647"/>
            <a:ext cx="219458" cy="30909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4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16cf69a57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9436" y="2793462"/>
            <a:ext cx="633414" cy="633414"/>
          </a:xfrm>
          <a:prstGeom xmlns:a="http://schemas.openxmlformats.org/drawingml/2006/main" prst="rect">
            <a:avLst/>
          </a:prstGeom>
        </p:spPr>
      </p:pic>
      <p:sp>
        <p:nvSpPr>
          <p:cNvPr id="40" name="Text 7">
            <a:extLst xmlns:a="http://schemas.openxmlformats.org/drawingml/2006/main">
              <a:ext uri="{FF2B5EF4-FFF2-40B4-BE49-F238E27FC236}">
                <a16:creationId xmlns:a16="http://schemas.microsoft.com/office/drawing/2014/main" id="{415D9114-6BC8-3E42-CBA3-AB2D177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19318"/>
            <a:ext cx="1516381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3970">
            <a:solidFill>
              <a:srgbClr val="2E4756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Student submits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</a:rPr>
              <a:t>a code project</a:t>
            </a:r>
          </a:p>
        </p:txBody>
      </p:sp>
      <p:sp>
        <p:nvSpPr>
          <p:cNvPr id="41" name="Text 8">
            <a:extLst xmlns:a="http://schemas.openxmlformats.org/drawingml/2006/main">
              <a:ext uri="{FF2B5EF4-FFF2-40B4-BE49-F238E27FC236}">
                <a16:creationId xmlns:a16="http://schemas.microsoft.com/office/drawing/2014/main" id="{F5BF5CFD-AAE2-A237-30DE-C6EDB423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932" y="4319318"/>
            <a:ext cx="17200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Auto code analysis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extract verifiable facts</a:t>
            </a:r>
          </a:p>
        </p:txBody>
      </p:sp>
      <p:sp>
        <p:nvSpPr>
          <p:cNvPr id="42" name="Text 9">
            <a:extLst xmlns:a="http://schemas.openxmlformats.org/drawingml/2006/main">
              <a:ext uri="{FF2B5EF4-FFF2-40B4-BE49-F238E27FC236}">
                <a16:creationId xmlns:a16="http://schemas.microsoft.com/office/drawing/2014/main" id="{AA5274E2-2BE6-F6A6-E442-FB6F9CF1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80" y="4319318"/>
            <a:ext cx="187452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Generate questions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about THIS code</a:t>
            </a:r>
          </a:p>
        </p:txBody>
      </p:sp>
      <p:sp>
        <p:nvSpPr>
          <p:cNvPr id="43" name="Text 10">
            <a:extLst xmlns:a="http://schemas.openxmlformats.org/drawingml/2006/main">
              <a:ext uri="{FF2B5EF4-FFF2-40B4-BE49-F238E27FC236}">
                <a16:creationId xmlns:a16="http://schemas.microsoft.com/office/drawing/2014/main" id="{578420DC-1C61-8CF8-001D-ED8F5015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504" y="4319318"/>
            <a:ext cx="1588397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Instructor reviews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edits · approves</a:t>
            </a:r>
          </a:p>
        </p:txBody>
      </p:sp>
      <p:sp>
        <p:nvSpPr>
          <p:cNvPr id="44" name="Text 11">
            <a:extLst xmlns:a="http://schemas.openxmlformats.org/drawingml/2006/main">
              <a:ext uri="{FF2B5EF4-FFF2-40B4-BE49-F238E27FC236}">
                <a16:creationId xmlns:a16="http://schemas.microsoft.com/office/drawing/2014/main" id="{559DB1AE-9BEC-400B-8C77-A7ABAE06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405" y="4319318"/>
            <a:ext cx="159929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Student answers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(immediate feedback)</a:t>
            </a:r>
          </a:p>
        </p:txBody>
      </p:sp>
      <p:sp>
        <p:nvSpPr>
          <p:cNvPr id="45" name="Text 12">
            <a:extLst xmlns:a="http://schemas.openxmlformats.org/drawingml/2006/main">
              <a:ext uri="{FF2B5EF4-FFF2-40B4-BE49-F238E27FC236}">
                <a16:creationId xmlns:a16="http://schemas.microsoft.com/office/drawing/2014/main" id="{962BFF91-AE15-1F5D-28B2-305D2F7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207" y="4319318"/>
            <a:ext cx="159929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Understanding profile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per topic</a:t>
            </a:r>
          </a:p>
        </p:txBody>
      </p:sp>
      <p:cxnSp>
        <p:nvCxnSpPr>
          <p:cNvPr id="241" name="Straight Arrow Connector 46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900429" y="4675934"/>
            <a:ext cx="300503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2" name="Straight Arrow Connector 50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920976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3" name="Straight Arrow Connector 53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096000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4" name="Straight Arrow Connector 54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984901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5" name="Straight Arrow Connector 55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9884703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CA296921-9F9D-543F-692F-E81502A1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506" y="5091151"/>
            <a:ext cx="2014136" cy="5944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50">
                <a:solidFill>
                  <a:srgbClr val="1B2430"/>
                </a:solidFill>
              </a:rPr>
              <a:t>checks comprehension of the specific code the student submitted.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44B8CC59-E7AE-338E-47C5-D17D5F97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7" y="5091151"/>
            <a:ext cx="2014136" cy="424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50">
                <a:solidFill>
                  <a:srgbClr val="1B2430"/>
                </a:solidFill>
              </a:rPr>
              <a:t>Every question is generated from facts extracted from that project.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0CF92FDF-38FD-E4C1-1238-848D498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193" y="5091151"/>
            <a:ext cx="1882362" cy="4089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00">
                <a:solidFill>
                  <a:srgbClr val="1B2430"/>
                </a:solidFill>
              </a:rPr>
              <a:t>A human instructor reviews before any student sees it.</a:t>
            </a:r>
          </a:p>
        </p:txBody>
      </p:sp>
      <p:sp>
        <p:nvSpPr>
          <p:cNvPr id="74" name="Straight Connector 73">
            <a:extLst xmlns:a="http://schemas.openxmlformats.org/drawingml/2006/main">
              <a:ext uri="{FF2B5EF4-FFF2-40B4-BE49-F238E27FC236}">
                <a16:creationId xmlns:a16="http://schemas.microsoft.com/office/drawing/2014/main" id="{FF207985-9F6D-4C0A-95F8-64DA9FF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2" y="3500913"/>
            <a:ext cx="0" cy="5459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F7DA85E8-7989-C2FA-FB01-ABDF986C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6" y="172995"/>
            <a:ext cx="41656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RepoProof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31E1020-7935-4124-A422-EC76C39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947" y="1611982"/>
            <a:ext cx="2885011" cy="783857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1B62565-59EF-EFBF-3775-A223524E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958" y="4025482"/>
            <a:ext cx="18997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2">
                    <a:lumMod val="75000"/>
                  </a:schemeClr>
                </a:solidFill>
              </a:rPr>
              <a:t>Provide to lecturer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F754051-5432-8B49-8F61-3DEA967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86" y="4025482"/>
            <a:ext cx="18997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3">
                    <a:lumMod val="75000"/>
                  </a:schemeClr>
                </a:solidFill>
              </a:rPr>
              <a:t>(Assignment)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BD4892-9096-4971-DB59-69A907E4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71" y="3892949"/>
            <a:ext cx="18997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5">
                    <a:lumMod val="60000"/>
                    <a:lumOff val="40000"/>
                  </a:schemeClr>
                </a:solidFill>
              </a:rPr>
              <a:t>External Platform</a:t>
            </a:r>
          </a:p>
        </p:txBody>
      </p:sp>
    </p:spTree>
    <p:extLst>
      <p:ext uri="{BB962C8B-B14F-4D97-AF65-F5344CB8AC3E}">
        <p14:creationId xmlns:p14="http://schemas.microsoft.com/office/powerpoint/2010/main" val="974808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3804E3-9056-45A8-9491-BDF23D57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Proposed use in COMP5339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465495-BCA7-481E-91C7-BD8FE9F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4687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B7785"/>
                </a:solidFill>
              </a:rPr>
              <a:t>Low-stakes, formative, and instructor-controlled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3C76E6F-E2E2-4F10-813D-0151B939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9" y="1234440"/>
            <a:ext cx="5526024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2% participation mark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62B28F-B71D-4850-B723-E66440FB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1709928"/>
            <a:ext cx="222678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Credit is for completing the quiz.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793BF8-8689-4883-BD7B-AA94F42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12" y="3944615"/>
            <a:ext cx="5547361" cy="11924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Immediate feedback </a:t>
            </a:r>
            <a:br/>
            <a:r>
              <a:rPr b="1">
                <a:solidFill>
                  <a:schemeClr val="accent5">
                    <a:lumMod val="75000"/>
                  </a:schemeClr>
                </a:solidFill>
              </a:rPr>
              <a:t>+ explanations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1E93FC-7D4D-4503-961D-7D65034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4693344"/>
            <a:ext cx="1747810" cy="2747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Positioned as a learning aid.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0F220BC-D3BA-432C-B889-796A9C5A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468314"/>
            <a:ext cx="5526025" cy="11515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Short quiz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9C2C6D8-7B80-4115-9859-EF01BB99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2943802"/>
            <a:ext cx="174781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5 MCQ, under ~3 minutes;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little incentive to game it.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5696D8-B467-455A-91BE-20562AD5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468314"/>
            <a:ext cx="4065230" cy="2632173"/>
          </a:xfrm>
          <a:prstGeom xmlns:a="http://schemas.openxmlformats.org/drawingml/2006/main" prst="roundRect">
            <a:avLst>
              <a:gd name="adj" fmla="val 6682"/>
            </a:avLst>
          </a:prstGeom>
          <a:solidFill xmlns:a="http://schemas.openxmlformats.org/drawingml/2006/main">
            <a:srgbClr val="D3E9FF">
              <a:alpha val="3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  <a:alpha val="7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/>
                </a:solidFill>
              </a:rPr>
              <a:t>Instructor-approved questions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B6FE19-09DD-4ED7-BB65-6A78EFB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231" y="2918044"/>
            <a:ext cx="303115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Every question is human-reviewed before release.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6204C6-D3B6-4EE4-896F-67382DF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12" y="5492922"/>
            <a:ext cx="5532120" cy="11027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Optional student survey </a:t>
            </a:r>
            <a:r>
              <a:rPr>
                <a:solidFill>
                  <a:schemeClr val="accent5">
                    <a:lumMod val="75000"/>
                  </a:schemeClr>
                </a:solidFill>
              </a:rPr>
              <a:t>(via Qualtrics)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855FB3-A493-4F63-A4C8-4D26E0AE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5952744"/>
            <a:ext cx="244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Voluntary feedback on the experience; 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not required and not linked to the mark.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0389A4E-056F-41B3-A6B5-791584B9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834" y="1224465"/>
            <a:ext cx="406523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3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  <a:alpha val="7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/>
                </a:solidFill>
              </a:rPr>
              <a:t>No academic disadvantage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2FD792-DCF3-47B2-B8E7-5E3A70D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231" y="1622443"/>
            <a:ext cx="2887148" cy="3432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Students may opt out of cohort aggregate analytics; the 2% participation credit is unaffected.</a:t>
            </a:r>
          </a:p>
        </p:txBody>
      </p:sp>
      <p:pic>
        <p:nvPicPr>
          <p:cNvPr id="50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29fe3878b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1231" y="3130202"/>
            <a:ext cx="3668486" cy="1916548"/>
          </a:xfrm>
          <a:prstGeom xmlns:a="http://schemas.openxmlformats.org/drawingml/2006/main" prst="roundRect">
            <a:avLst>
              <a:gd name="adj" fmla="val 10640"/>
            </a:avLst>
          </a:prstGeom>
          <a:effectLst xmlns:a="http://schemas.openxmlformats.org/drawingml/2006/main"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pic>
        <p:nvPicPr>
          <p:cNvPr id="51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1c05b7ef84384"/>
          <a:srcRect xmlns:a="http://schemas.openxmlformats.org/drawingml/2006/main" l="0" t="0" r="0" b="3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293" y="2490900"/>
            <a:ext cx="3362289" cy="1080891"/>
          </a:xfrm>
          <a:prstGeom xmlns:a="http://schemas.openxmlformats.org/drawingml/2006/main" prst="roundRect">
            <a:avLst/>
          </a:prstGeom>
          <a:effectLst xmlns:a="http://schemas.openxmlformats.org/drawingml/2006/main"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52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baa15e9184157"/>
          <a:srcRect xmlns:a="http://schemas.openxmlformats.org/drawingml/2006/main" l="0" t="39349" r="0" b="1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9271" y="3957820"/>
            <a:ext cx="3316310" cy="1153694"/>
          </a:xfrm>
          <a:prstGeom xmlns:a="http://schemas.openxmlformats.org/drawingml/2006/main" prst="roundRect">
            <a:avLst>
              <a:gd name="adj" fmla="val 17575"/>
            </a:avLst>
          </a:prstGeom>
          <a:effectLst xmlns:a="http://schemas.openxmlformats.org/drawingml/2006/main"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27" name="Down Arrow 26">
            <a:extLst xmlns:a="http://schemas.openxmlformats.org/drawingml/2006/main">
              <a:ext uri="{FF2B5EF4-FFF2-40B4-BE49-F238E27FC236}">
                <a16:creationId xmlns:a16="http://schemas.microsoft.com/office/drawing/2014/main" id="{0D603F15-C54E-4934-5E08-A52E3EF4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81" y="2148840"/>
            <a:ext cx="640158" cy="329449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Down Arrow 27">
            <a:extLst xmlns:a="http://schemas.openxmlformats.org/drawingml/2006/main">
              <a:ext uri="{FF2B5EF4-FFF2-40B4-BE49-F238E27FC236}">
                <a16:creationId xmlns:a16="http://schemas.microsoft.com/office/drawing/2014/main" id="{41D1202B-72C9-6B25-E1D2-BF8EEC86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81" y="3619675"/>
            <a:ext cx="640158" cy="329449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Down Arrow 28">
            <a:extLst xmlns:a="http://schemas.openxmlformats.org/drawingml/2006/main">
              <a:ext uri="{FF2B5EF4-FFF2-40B4-BE49-F238E27FC236}">
                <a16:creationId xmlns:a16="http://schemas.microsoft.com/office/drawing/2014/main" id="{906269EA-878B-497F-308B-24B9A44C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81" y="5150269"/>
            <a:ext cx="640158" cy="329449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eft-right Arrow 30">
            <a:extLst xmlns:a="http://schemas.openxmlformats.org/drawingml/2006/main">
              <a:ext uri="{FF2B5EF4-FFF2-40B4-BE49-F238E27FC236}">
                <a16:creationId xmlns:a16="http://schemas.microsoft.com/office/drawing/2014/main" id="{7E713192-8C64-202C-BD9B-DE43C1C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354" y="1580517"/>
            <a:ext cx="457200" cy="286819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Left-right Arrow 31">
            <a:extLst xmlns:a="http://schemas.openxmlformats.org/drawingml/2006/main">
              <a:ext uri="{FF2B5EF4-FFF2-40B4-BE49-F238E27FC236}">
                <a16:creationId xmlns:a16="http://schemas.microsoft.com/office/drawing/2014/main" id="{EA3AC4DE-A190-3166-9671-6621ECA6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354" y="3609733"/>
            <a:ext cx="457200" cy="286819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72338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4C846B-CCFC-43C6-B22F-9AD4190C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5" y="1104954"/>
            <a:ext cx="4594137" cy="5635422"/>
          </a:xfrm>
          <a:prstGeom xmlns:a="http://schemas.openxmlformats.org/drawingml/2006/main" prst="roundRect">
            <a:avLst>
              <a:gd name="adj" fmla="val 5686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397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RepoProof</a:t>
            </a:r>
          </a:p>
        </p:txBody>
      </p:sp>
      <p:pic>
        <p:nvPicPr>
          <p:cNvPr id="68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5b4ed9232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243" y="5953818"/>
            <a:ext cx="4272428" cy="616936"/>
          </a:xfrm>
          <a:prstGeom xmlns:a="http://schemas.openxmlformats.org/drawingml/2006/main" prst="rect">
            <a:avLst/>
          </a:prstGeom>
        </p:spPr>
      </p:pic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782154-E042-4AB2-8F06-4DED118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285813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Identity separation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ADC1EB-6452-48B4-8EB3-BB4F206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7406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785"/>
                </a:solidFill>
              </a:rPr>
              <a:t>Students click a personalised link; their SID never reaches RepoProof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4679AD-6F44-4C30-B868-A009542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10" y="1728322"/>
            <a:ext cx="2553919" cy="38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  <a:headEnd type="none" w="med" len="med"/>
            <a:tailEnd type="arrow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DC0B2C4-210E-465A-A37C-3F4BE2BB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54" y="1104953"/>
            <a:ext cx="2596670" cy="2079440"/>
          </a:xfrm>
          <a:prstGeom xmlns:a="http://schemas.openxmlformats.org/drawingml/2006/main" prst="can">
            <a:avLst/>
          </a:prstGeom>
          <a:solidFill xmlns:a="http://schemas.openxmlformats.org/drawingml/2006/main">
            <a:schemeClr val="tx2">
              <a:lumMod val="60000"/>
              <a:lumOff val="40000"/>
            </a:schemeClr>
          </a:solidFill>
          <a:ln xmlns:a="http://schemas.openxmlformats.org/drawingml/2006/main" w="13970">
            <a:solidFill>
              <a:schemeClr val="tx2">
                <a:lumMod val="50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0B4FF5-1218-4F3E-837E-E154E4C3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302025"/>
            <a:ext cx="3130732" cy="2499919"/>
          </a:xfrm>
          <a:prstGeom xmlns:a="http://schemas.openxmlformats.org/drawingml/2006/main" prst="roundRect">
            <a:avLst>
              <a:gd name="adj" fmla="val 6007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13970">
            <a:solidFill>
              <a:schemeClr val="tx2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384A"/>
                </a:solidFill>
              </a:rPr>
              <a:t>Canvas deliver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998F53-FCD0-44FE-93DB-BBFD2586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284" y="3713467"/>
            <a:ext cx="1001268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B7785"/>
                </a:solidFill>
              </a:rPr>
              <a:t>RepoID only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FDE7D1F-0659-42D5-892A-954D5E33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089" y="5781579"/>
            <a:ext cx="845820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B7785"/>
                </a:solidFill>
              </a:rPr>
              <a:t>copy code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65533B7-56A6-4AD4-962F-63FD6220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80" y="1196656"/>
            <a:ext cx="1414875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B7785"/>
                </a:solidFill>
              </a:rPr>
              <a:t>provide mapping</a:t>
            </a:r>
          </a:p>
        </p:txBody>
      </p:sp>
      <p:graphicFrame>
        <p:nvGraphicFramePr>
          <p:cNvPr id="77" name="Table 26"/>
          <p:cNvGraphicFramePr/>
          <p:nvPr/>
        </p:nvGraphicFramePr>
        <p:xfrm>
          <a:off xmlns:a="http://schemas.openxmlformats.org/drawingml/2006/main" x="803867" y="1666875"/>
          <a:ext xmlns:a="http://schemas.openxmlformats.org/drawingml/2006/main" cx="2123244" cy="13357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744"/>
                <a:gridCol w="629250"/>
                <a:gridCol w="629250"/>
              </a:tblGrid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SID</a:t>
                      </a:r>
                    </a:p>
                  </a:txBody>
                  <a:tcPr marL="91440" marR="91440" marT="45720" marB="457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folder</a:t>
                      </a:r>
                    </a:p>
                  </a:txBody>
                  <a:tcPr marL="91440" marR="91440" marT="45720" marB="457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RepoID</a:t>
                      </a:r>
                    </a:p>
                  </a:txBody>
                  <a:tcPr marL="91440" marR="91440" marT="45720" marB="45720">
                    <a:solidFill>
                      <a:schemeClr val="tx2"/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900000001</a:t>
                      </a:r>
                    </a:p>
                  </a:txBody>
                  <a:tcPr marL="91440" marR="91440" marT="45720" marB="45720">
                    <a:solidFill>
                      <a:srgbClr val="FFCF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CF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sjdivn</a:t>
                      </a:r>
                    </a:p>
                  </a:txBody>
                  <a:tcPr marL="91440" marR="91440" marT="45720" marB="45720">
                    <a:solidFill>
                      <a:srgbClr val="FFCFA9">
                        <a:alpha val="50196"/>
                      </a:srgbClr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900000002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ejhud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900000003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cjudfc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900000004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wjdui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0492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70B3837-7F94-89B0-0F2E-FD9A424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82" y="1171445"/>
            <a:ext cx="205861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/>
              <a:t>CARE staff</a:t>
            </a:r>
          </a:p>
        </p:txBody>
      </p:sp>
      <p:pic>
        <p:nvPicPr>
          <p:cNvPr id="79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4f256c7cd4061"/>
          <a:srcRect xmlns:a="http://schemas.openxmlformats.org/drawingml/2006/main" l="0" t="20254" r="333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414" y="3737259"/>
            <a:ext cx="2808000" cy="1595426"/>
          </a:xfrm>
          <a:prstGeom xmlns:a="http://schemas.openxmlformats.org/drawingml/2006/main" prst="rect">
            <a:avLst/>
          </a:prstGeom>
        </p:spPr>
      </p:pic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29B716C-1460-99F6-CE9E-26F31F3E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14" y="4876026"/>
            <a:ext cx="2808000" cy="7758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07D1661-D32F-2F61-717A-1CF64530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6" y="4536471"/>
            <a:ext cx="2684723" cy="3395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1EAD7AF-29A2-6DF1-3644-D8BB69D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37" y="4876026"/>
            <a:ext cx="1949082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273541"/>
                </a:solidFill>
                <a:latin typeface="Arial"/>
                <a:ea typeface="Arial"/>
                <a:cs typeface="Arial"/>
              </a:rPr>
              <a:t>Paste your finished code here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EFA1769-DBC6-8CF5-26A4-FADD8CA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96" y="5346188"/>
            <a:ext cx="550912" cy="19051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61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9669073-15B0-F0CB-1D9A-3257AA7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37" y="5026657"/>
            <a:ext cx="153837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4"/>
                </a:solidFill>
                <a:latin typeface="Candara"/>
                <a:ea typeface="Candara"/>
                <a:cs typeface="Candara"/>
              </a:rPr>
              <a:t>sjdivn-sjdivn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746BBCE-4C67-04D2-1B06-31889E34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37" y="4486061"/>
            <a:ext cx="272721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273541"/>
                </a:solidFill>
                <a:latin typeface="Arial"/>
                <a:ea typeface="Arial"/>
                <a:cs typeface="Arial"/>
              </a:rPr>
              <a:t>Complete your Quiz Here:</a:t>
            </a:r>
          </a:p>
          <a:p xmlns:a="http://schemas.openxmlformats.org/drawingml/2006/main">
            <a:r>
              <a:rPr sz="1000">
                <a:solidFill>
                  <a:srgbClr val="273541"/>
                </a:solidFill>
                <a:latin typeface="Arial"/>
                <a:ea typeface="Arial"/>
                <a:cs typeface="Arial"/>
                <a:hlinkClick xmlns:r="http://schemas.openxmlformats.org/officeDocument/2006/relationships" r:id="R29a3b03a7de8466c"/>
              </a:rPr>
              <a:t>https://repoproof/comp5339/a1/sjdivn</a:t>
            </a:r>
          </a:p>
        </p:txBody>
      </p:sp>
      <p:pic>
        <p:nvPicPr>
          <p:cNvPr id="8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4f256c7cd4061"/>
          <a:srcRect xmlns:a="http://schemas.openxmlformats.org/drawingml/2006/main" l="0" t="0" r="33335" b="88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414" y="3548553"/>
            <a:ext cx="2808000" cy="239231"/>
          </a:xfrm>
          <a:prstGeom xmlns:a="http://schemas.openxmlformats.org/drawingml/2006/main" prst="rect">
            <a:avLst/>
          </a:prstGeom>
        </p:spPr>
      </p:pic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8AFEC1B-BC69-D9DB-B75B-CD21795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96" y="5122247"/>
            <a:ext cx="1713598" cy="15093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a5c414f3b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243" y="1473116"/>
            <a:ext cx="4272428" cy="448070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9" name="Table 43"/>
          <p:cNvGraphicFramePr/>
          <p:nvPr/>
        </p:nvGraphicFramePr>
        <p:xfrm>
          <a:off xmlns:a="http://schemas.openxmlformats.org/drawingml/2006/main" x="3726997" y="1405960"/>
          <a:ext xmlns:a="http://schemas.openxmlformats.org/drawingml/2006/main" cx="1557597" cy="66375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5104"/>
                <a:gridCol w="1162493"/>
              </a:tblGrid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folder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RepoID</a:t>
                      </a:r>
                    </a:p>
                  </a:txBody>
                  <a:tcPr marL="0" marR="0" marT="0" marB="0" anchor="ctr"/>
                </a:tc>
              </a:tr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sjdivn, ejhud, cjudfc</a:t>
                      </a:r>
                    </a:p>
                  </a:txBody>
                  <a:tcPr marL="0" marR="0" marT="0" marB="0" anchor="ctr"/>
                </a:tc>
              </a:tr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wjdui, dkoud</a:t>
                      </a:r>
                    </a:p>
                  </a:txBody>
                  <a:tcPr marL="0" marR="0" marT="0" marB="0" anchor="ctr"/>
                </a:tc>
              </a:tr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…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…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F6AA6F12-F7AE-99E5-15A2-BBE8ED3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698" y="2859929"/>
            <a:ext cx="2052414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2. Short MCQ Quiz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44A5F892-3F38-8E4C-6AD8-AB10B5A1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346" y="4687896"/>
            <a:ext cx="2375339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3. Immediate Feedback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64B378B8-4F1E-34BD-F3F8-B3A7FE0E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515" y="6247002"/>
            <a:ext cx="1289919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4. get code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47247BA-5146-49FF-901F-AA9F51D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093204" y="5273178"/>
            <a:ext cx="3864274" cy="1050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E6F8E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A795AF-776D-4151-8E1C-6D05321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94797" y="1955824"/>
            <a:ext cx="3417611" cy="277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E6F8E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3E80438-D70F-40AE-2A35-424AD1F6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243" y="818518"/>
            <a:ext cx="4432123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i="1">
                <a:solidFill>
                  <a:schemeClr val="bg1">
                    <a:lumMod val="50000"/>
                  </a:schemeClr>
                </a:solidFill>
              </a:rPr>
              <a:t>A personalised link carries the RepoID, so the SID never leaves USYD systems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F045B99-A950-8E5B-9B61-E6B54728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43" y="5870440"/>
            <a:ext cx="3130732" cy="424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50" i="1">
                <a:solidFill>
                  <a:schemeClr val="bg1">
                    <a:lumMod val="50000"/>
                  </a:schemeClr>
                </a:solidFill>
              </a:rPr>
              <a:t>Marks are participation-only. Correctness never affects the grade.</a:t>
            </a:r>
          </a:p>
        </p:txBody>
      </p:sp>
      <p:sp>
        <p:nvSpPr>
          <p:cNvPr id="55" name="Text 9">
            <a:extLst xmlns:a="http://schemas.openxmlformats.org/drawingml/2006/main">
              <a:ext uri="{FF2B5EF4-FFF2-40B4-BE49-F238E27FC236}">
                <a16:creationId xmlns:a16="http://schemas.microsoft.com/office/drawing/2014/main" id="{84CA0753-03D2-AB45-8573-74576444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246" y="4876026"/>
            <a:ext cx="2313527" cy="2079440"/>
          </a:xfrm>
          <a:prstGeom xmlns:a="http://schemas.openxmlformats.org/drawingml/2006/main" prst="can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 w="1397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graphicFrame>
        <p:nvGraphicFramePr>
          <p:cNvPr id="98" name="Table 53"/>
          <p:cNvGraphicFramePr/>
          <p:nvPr/>
        </p:nvGraphicFramePr>
        <p:xfrm>
          <a:off xmlns:a="http://schemas.openxmlformats.org/drawingml/2006/main" x="10003429" y="5461620"/>
          <a:ext xmlns:a="http://schemas.openxmlformats.org/drawingml/2006/main" cx="2135907" cy="1219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2974"/>
                <a:gridCol w="534772"/>
                <a:gridCol w="958161"/>
              </a:tblGrid>
              <a:tr h="203820">
                <a:tc>
                  <a:txBody>
                    <a:bodyPr/>
                    <a:lstStyle/>
                    <a:p>
                      <a:r>
                        <a:rPr sz="1000"/>
                        <a:t>RepoID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folder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answers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sjdivn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[A, B, C, B, A]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ejhud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[D, B, C, C, A]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cjudfc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[A, B, D, B, B]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wjdui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[B, B, C, B, D]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3E9675C6-0F7C-8DF7-305E-561DA1F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196" y="4963186"/>
            <a:ext cx="186457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RepoProof stores: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29544F99-76D1-B921-03DB-9F402C08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642" y="1619791"/>
            <a:ext cx="3044263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/>
              <a:t>A1</a:t>
            </a:r>
            <a:r>
              <a:rPr sz="1200"/>
              <a:t> Understanding Quiz: </a:t>
            </a:r>
            <a:r>
              <a:rPr sz="1200">
                <a:latin typeface="Candara"/>
                <a:ea typeface="Candara"/>
                <a:cs typeface="Candara"/>
              </a:rPr>
              <a:t>sjdivn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C7E24031-9BF4-2BFC-B198-87B5D643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346" y="1834881"/>
            <a:ext cx="2291255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1. Customised Question</a:t>
            </a:r>
          </a:p>
        </p:txBody>
      </p:sp>
    </p:spTree>
    <p:extLst>
      <p:ext uri="{BB962C8B-B14F-4D97-AF65-F5344CB8AC3E}">
        <p14:creationId xmlns:p14="http://schemas.microsoft.com/office/powerpoint/2010/main" val="486157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98C955-D5B5-4051-8013-D3C12AAA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What RepoProof retains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46D8E2-E954-4216-B632-EE42BFF2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785"/>
                </a:solidFill>
              </a:rPr>
              <a:t>Original submissions are deleted after 1 month. Individual research records require opt-in; approved cohort aggregates may use opt-out.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663DA40-354C-42CB-9563-52C3F51E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989320"/>
            <a:ext cx="11430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C7A4B"/>
                </a:solidFill>
              </a:rPr>
              <a:t>Operational = required for teaching, deleted after 1 month.   Individual research = opt-in.   Cohort aggregate analytics = proposed opt-out, subject to CARE approval.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295471" y="1125373"/>
          <a:ext xmlns:a="http://schemas.openxmlformats.org/drawingml/2006/main" cx="11151055" cy="476543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6712"/>
                <a:gridCol w="2357610"/>
                <a:gridCol w="2390660"/>
                <a:gridCol w="2214390"/>
                <a:gridCol w="1751683"/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Retention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Consent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Identifiability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/>
                        <a:t>Original submission</a:t>
                      </a:r>
                    </a:p>
                    <a:p>
                      <a:pPr>
                        <a:buNone/>
                      </a:pPr>
                      <a:r>
                        <a:rPr sz="1400" b="1"/>
                        <a:t>(notebook / project files)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/>
                        <a:buChar char="•"/>
                      </a:pPr>
                      <a:r>
                        <a:rPr sz="1400"/>
                        <a:t>Generate questions</a:t>
                      </a:r>
                    </a:p>
                    <a:p>
                      <a:pPr marL="228600" indent="-228600">
                        <a:buFont typeface="Arial"/>
                        <a:buChar char="•"/>
                      </a:pPr>
                      <a:r>
                        <a:rPr sz="1400"/>
                        <a:t>Handle quiz enquiries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/>
                        <a:t>Delete 1 month after deadline, including backups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Required for teaching; excluded from research without opt-in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RepoID</a:t>
                      </a:r>
                    </a:p>
                    <a:p>
                      <a:pPr>
                        <a:buNone/>
                      </a:pPr>
                      <a:r>
                        <a:rPr sz="1400"/>
                        <a:t>(pseudonymous)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</a:tr>
              <a:tr h="1160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Extracted structural features</a:t>
                      </a:r>
                    </a:p>
                    <a:p>
                      <a:pPr>
                        <a:buNone/>
                      </a:pPr>
                      <a:r>
                        <a:rPr sz="1400"/>
                        <a:t>(no code text in 5-year set)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Reproduce generation</a:t>
                      </a:r>
                    </a:p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Evaluate COMP5339 tool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/>
                        <a:t>Opt-in only: de-identify at 1 month; retain 5 years on RDS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Explicit opt-in; withdraw before 1-month cutoff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De-identified; remove IDs, filenames and student-defined symbols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Quiz answers</a:t>
                      </a:r>
                    </a:p>
                    <a:p>
                      <a:pPr>
                        <a:buNone/>
                      </a:pPr>
                      <a:r>
                        <a:rPr sz="1400"/>
                        <a:t>(no mark impact)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288" indent="-141288">
                        <a:buFont typeface="Arial"/>
                        <a:buChar char="•"/>
                      </a:pPr>
                      <a:r>
                        <a:rPr sz="1400"/>
                        <a:t>Immediate feedback</a:t>
                      </a:r>
                    </a:p>
                    <a:p>
                      <a:pPr marL="141288" indent="-141288">
                        <a:buFont typeface="Arial"/>
                        <a:buChar char="•"/>
                      </a:pPr>
                      <a:r>
                        <a:rPr sz="1400"/>
                        <a:t>De-identified understanding analysis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Operational: 1 month</a:t>
                      </a:r>
                    </a:p>
                    <a:p>
                      <a:pPr>
                        <a:buNone/>
                      </a:pPr>
                      <a:r>
                        <a:rPr sz="1400"/>
                        <a:t>Opt-in research set: 5 years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Teaching use required; research retention requires opt-in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RepoID operationally; de-identified before analysis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De-identified and aggregated learning analytics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Topic distributions</a:t>
                      </a:r>
                    </a:p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Timing/performance and cross-semester trends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De-identified aggregate analysis retained 5 years on RDS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Proposed opt-out for cohort aggregate analytics; subject to CARE approval; no effect on 2%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Semester, topic, duration and completion-period bands; report groups ≥ 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Optional Qualtrics survey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Evaluate the learning experience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Anonymous responses </a:t>
                      </a:r>
                      <a:r>
                        <a:rPr sz="1400"/>
                        <a:t>retained 5 years on RDS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Explicit opt-in; withdraw before submission only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Anonymous; never linked to RepoID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899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AF7F450-4FA2-68F3-97E8-D15A7E11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1" y="693969"/>
            <a:ext cx="7513318" cy="59491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196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B42DBC-7A3A-6424-3590-39112F9C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763"/>
            <a:ext cx="609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Operational source data vs five-year research data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42065E-444A-9887-DCDA-30888B27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1" y="693969"/>
            <a:ext cx="4145280" cy="59491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50196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788D12-66BD-DBA2-1580-55FDC1E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61" y="1445214"/>
            <a:ext cx="4656379" cy="21390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FIVE-YEAR DE-IDENTIFIED FEATURE SET</a:t>
            </a:r>
          </a:p>
          <a:p xmlns:a="http://schemas.openxmlformats.org/drawingml/2006/main">
            <a:pPr marL="0" marR="0">
              <a:buNone/>
            </a:pP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semester and assignment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question topic and response/correctness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broad duration band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early / middle / late completion-period band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project-structure and complexity counts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question-review outcomes</a:t>
            </a:r>
          </a:p>
          <a:p xmlns:a="http://schemas.openxmlformats.org/drawingml/2006/main">
            <a:pPr marL="0" marR="0">
              <a:buNone/>
            </a:pP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Supports topic distributions, timing/performance analysis and comparisons across semesters.</a:t>
            </a:r>
          </a:p>
          <a:p xmlns:a="http://schemas.openxmlformats.org/drawingml/2006/main">
            <a:pPr marL="0" marR="0">
              <a:buNone/>
            </a:pP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Removed before research analysis: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SID · RepoID · exact timestamp · filenames · symbols · comments · URLs · source text</a:t>
            </a:r>
          </a:p>
        </p:txBody>
      </p:sp>
      <p:pic>
        <p:nvPicPr>
          <p:cNvPr id="9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1e133178648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" y="2313113"/>
            <a:ext cx="3337560" cy="4177133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9F176A0-5F56-B33D-4415-A511C12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1" y="860175"/>
            <a:ext cx="3958996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Operational submission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F50987-F5CF-58DD-009D-8813F078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1268290"/>
            <a:ext cx="4319981" cy="10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solidFill>
                  <a:schemeClr val="tx1"/>
                </a:solidFill>
              </a:rPr>
              <a:t>Purpose: generate questions and resolve enquiries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Delete: 1 month after the quiz deadline, including backups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BF88295-0F71-CD64-74A4-C5498913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1" y="860175"/>
            <a:ext cx="3958996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Operational code chunks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B26A8C1-5CF0-12E5-FF80-A2CAD75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1" y="860175"/>
            <a:ext cx="2392679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Answers at cutoff</a:t>
            </a:r>
          </a:p>
        </p:txBody>
      </p:sp>
      <p:graphicFrame>
        <p:nvGraphicFramePr>
          <p:cNvPr id="102" name="Table 18"/>
          <p:cNvGraphicFramePr/>
          <p:nvPr/>
        </p:nvGraphicFramePr>
        <p:xfrm>
          <a:off xmlns:a="http://schemas.openxmlformats.org/drawingml/2006/main" x="9357361" y="1443483"/>
          <a:ext xmlns:a="http://schemas.openxmlformats.org/drawingml/2006/main" cx="2392679" cy="22250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60837"/>
                <a:gridCol w="1431842"/>
              </a:tblGrid>
              <a:tr h="370840">
                <a:tc>
                  <a:txBody>
                    <a:bodyPr/>
                    <a:lstStyle/>
                    <a:p>
                      <a:r>
                        <a:rPr sz="1600"/>
                        <a:t>RepoID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answers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sjdivn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[A, B, C, B, A]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ejhud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/>
                        <a:t>[D, B, C, C, A]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cjudfc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/>
                        <a:t>[A, B, D, B, B]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wjdui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/>
                        <a:t>[B, B, C, B, D]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…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C88BFF5-72D6-2C39-33A6-16B3ABEC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1" y="4030095"/>
            <a:ext cx="2392679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Anonymous survey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DCEAE7E-43E1-A0D6-F640-AA4E048D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1" y="4602480"/>
            <a:ext cx="2392679" cy="16359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73541"/>
                </a:solidFill>
              </a:rPr>
              <a:t>Explicit opt-in
No RepoID link
Withdraw before submission
Retain 5 years on RDS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E1A0F51-B3B3-1307-B897-443398A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61" y="3905385"/>
            <a:ext cx="4656379" cy="256993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"study_record_id": "random-study-code",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"semester": "2026-S2",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"assignment": "A1",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"question_topic": "control flow",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"response": "B",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"correct": true,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"duration_band": "2–3 minutes",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"completion_period": "middle",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"complexity_band": "moderate"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/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Lecturer reporting only: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topic-level response/correctness distributions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duration-band vs correctness distributions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early/middle/late group comparisons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semester trends and teaching-change comparisons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• suppress or combine every subgroup with n &lt; 5</a:t>
            </a:r>
          </a:p>
          <a:p xmlns:a="http://schemas.openxmlformats.org/drawingml/2006/main"/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No SID, RepoID, exact timestamp, filename, symbol, comment, URL or source text.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D21D6C-64AD-92EC-17D2-F9BD93B3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07" y="2090057"/>
            <a:ext cx="4278086" cy="180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07" name="Straight Arrow Connector 6"/>
          <p:cNvCxnSpPr/>
          <p:nvPr/>
        </p:nvCxnSpPr>
        <p:spPr>
          <a:xfrm xmlns:a="http://schemas.openxmlformats.org/drawingml/2006/main">
            <a:off x="5047639" y="2270759"/>
            <a:ext cx="0" cy="163462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accent5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2823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CBD451-E417-4B50-942E-75CC88A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How it fits CARE — and what's left to confirm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3E210A-F1C3-406B-8866-C8FE659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785"/>
                </a:solidFill>
              </a:rPr>
              <a:t>Proposed for CARE umbrella coverage (2025/HE001132), subject to Working Party approval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882B15-1FBE-41BB-A2C8-E8961201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97280"/>
            <a:ext cx="1143000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C6CF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291875-18E9-424D-B48C-B3A26966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7B6C"/>
                </a:solidFill>
              </a:rPr>
              <a:t>Safeguards   participation-only (2%)  ·  human-approved  ·  SID stays within USYD  ·  local model only  ·  withdraw by RepoID before cutoff  ·  aggregate reporting (groups ≥ 5)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E63A2B-0F50-47FF-BB51-680E7467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10512"/>
            <a:ext cx="1143000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EEF4"/>
          </a:solidFill>
          <a:ln xmlns:a="http://schemas.openxmlformats.org/drawingml/2006/main" w="9525">
            <a:solidFill>
              <a:srgbClr val="2E6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655EA9-926B-45E7-844C-3DCA384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E6F8E"/>
                </a:solidFill>
              </a:rPr>
              <a:t>CARE mapping   individual research retention → opt-in  ·  cohort aggregate analytics → proposed opt-out (approval pending)  ·  2% unaffected  ·  5 yrs on RDS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619058D-F5BE-4F2A-A468-B9A25B9E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615184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B1A4E9-AB43-422F-AB2E-6B4342A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24912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C7F5491-1099-4951-B3FF-8DFD3113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24912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Independent de-identification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958A52D-6212-46DF-BE88-DF5588E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706624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>
                <a:solidFill>
                  <a:srgbClr val="1B2430"/>
                </a:solidFill>
              </a:rPr>
              <a:t>A CARE staff member outside the research team holds the SID ↔ RepoID list and de-identifies data before analysis (also resolves the conflict of interest).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FDEC328-2CA1-40FD-AE97-3A6A795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566160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D588CC-58E8-451B-95F6-2984A08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75888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CD09D2-26C7-4B25-81F5-7C404D27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Conflict-of-interest oversight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BA8D004-DCDA-42E4-8A4A-0EEB3E6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57600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>
                <a:solidFill>
                  <a:srgbClr val="1B2430"/>
                </a:solidFill>
              </a:rPr>
              <a:t>Tool built by an enrolled student; supervisor is the unit lecturer. Independent sign-off, students informed, and participation cannot affect standing.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56960DF-64D0-4C03-83D6-BFBCD49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517136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82FBC9A-11DD-4616-929B-1DDB7B6B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410D9C-C716-4F5D-8A34-A2274498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26864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Data, code &amp; hosting governance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C9ABEB3-19A0-46AE-AE2C-F2E8886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08576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>
                <a:solidFill>
                  <a:schemeClr val="accent1"/>
                </a:solidFill>
              </a:rPr>
              <a:t>Confirm consent for five-year cross-semester analysis, feature de-identification, hosting region, role-based access, backup deletion, incident response, and secure transfer to RDS.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F73038F-F138-43CF-A6DA-AB45C52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468112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6D09BAA-E074-4FD2-8A62-F68E3C61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77840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4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6B6398F-F9D4-4F18-9786-3F0F5BB2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77840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Unit coverage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F889722-6164-424A-8E38-298D596D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559552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>
                <a:solidFill>
                  <a:schemeClr val="accent1"/>
                </a:solidFill>
              </a:rPr>
              <a:t>Confirm COMP5339 is on the CARE Programs &amp; Units list, so the sub-study is in scope.</a:t>
            </a:r>
          </a:p>
        </p:txBody>
      </p:sp>
    </p:spTree>
    <p:extLst>
      <p:ext uri="{BB962C8B-B14F-4D97-AF65-F5344CB8AC3E}">
        <p14:creationId xmlns:p14="http://schemas.microsoft.com/office/powerpoint/2010/main" val="21125496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CBD451-E417-4B50-942E-75CC88A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Deployment &amp; governance checklist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3E210A-F1C3-406B-8866-C8FE659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785"/>
                </a:solidFill>
              </a:rPr>
              <a:t>Known from repository documentation; ? = not documented or not yet decided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882B15-1FBE-41BB-A2C8-E8961201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97280"/>
            <a:ext cx="1143000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C6CF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291875-18E9-424D-B48C-B3A26966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7B6C"/>
                </a:solidFill>
              </a:rPr>
              <a:t>Known architecture   </a:t>
            </a:r>
            <a:r>
              <a:rPr sz="1100" b="1">
                <a:solidFill>
                  <a:srgbClr val="0F7B6C"/>
                </a:solidFill>
              </a:rPr>
              <a:t>FastAPI</a:t>
            </a:r>
            <a:r>
              <a:rPr sz="1100" b="1">
                <a:solidFill>
                  <a:srgbClr val="0F7B6C"/>
                </a:solidFill>
              </a:rPr>
              <a:t>  ·  SQLite (WAL)  ·  local project directory  ·  events store derived metadata, not raw code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E63A2B-0F50-47FF-BB51-680E7467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10512"/>
            <a:ext cx="1143000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EEF4"/>
          </a:solidFill>
          <a:ln xmlns:a="http://schemas.openxmlformats.org/drawingml/2006/main" w="9525">
            <a:solidFill>
              <a:srgbClr val="2E6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655EA9-926B-45E7-844C-3DCA384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E6F8E"/>
                </a:solidFill>
              </a:rPr>
              <a:t>Privacy mode   LOCAL_ONLY can disable OpenAI  ·  local LLM receives structured evidence only  ·  instructor reviews questions before release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619058D-F5BE-4F2A-A468-B9A25B9E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615184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B1A4E9-AB43-422F-AB2E-6B4342A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24912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C7F5491-1099-4951-B3FF-8DFD3113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24912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Hosting &amp; data location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958A52D-6212-46DF-BE88-DF5588E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706624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>
                <a:solidFill>
                  <a:srgbClr val="1B2430"/>
                </a:solidFill>
              </a:rPr>
              <a:t>Live URL: </a:t>
            </a:r>
            <a:r>
              <a:rPr sz="1200">
                <a:solidFill>
                  <a:srgbClr val="1B2430"/>
                </a:solidFill>
              </a:rPr>
              <a:t>repoproof.chingyu.site</a:t>
            </a:r>
            <a:r>
              <a:rPr sz="1200">
                <a:solidFill>
                  <a:srgbClr val="1B2430"/>
                </a:solidFill>
              </a:rPr>
              <a:t> · hosting provider: </a:t>
            </a:r>
            <a:r>
              <a:rPr sz="1200">
                <a:solidFill>
                  <a:srgbClr val="1B2430"/>
                </a:solidFill>
              </a:rPr>
              <a:t>Squarespace</a:t>
            </a:r>
            <a:r>
              <a:rPr sz="1200">
                <a:solidFill>
                  <a:srgbClr val="1B2430"/>
                </a:solidFill>
              </a:rPr>
              <a:t> · data region: </a:t>
            </a:r>
            <a:r>
              <a:rPr sz="1200">
                <a:solidFill>
                  <a:srgbClr val="1B2430"/>
                </a:solidFill>
              </a:rPr>
              <a:t>ap-southeast-2 Sydney</a:t>
            </a:r>
            <a:r>
              <a:rPr sz="1200">
                <a:solidFill>
                  <a:srgbClr val="1B2430"/>
                </a:solidFill>
              </a:rPr>
              <a:t> · production server/DB location: </a:t>
            </a:r>
            <a:r>
              <a:rPr sz="1200">
                <a:solidFill>
                  <a:srgbClr val="1B2430"/>
                </a:solidFill>
              </a:rPr>
              <a:t>aws-ec2</a:t>
            </a:r>
            <a:r>
              <a:rPr sz="1200">
                <a:solidFill>
                  <a:srgbClr val="1B2430"/>
                </a:solidFill>
              </a:rPr>
              <a:t> · encryption at rest: ?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FDEC328-2CA1-40FD-AE97-3A6A795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566160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D588CC-58E8-451B-95F6-2984A08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75888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CD09D2-26C7-4B25-81F5-7C404D27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Access &amp; role separation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BA8D004-DCDA-42E4-8A4A-0EEB3E6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57600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>
                <a:solidFill>
                  <a:srgbClr val="1B2430"/>
                </a:solidFill>
              </a:rPr>
              <a:t>Creator access: shared password + HMAC-signed </a:t>
            </a:r>
            <a:r>
              <a:rPr sz="1200">
                <a:solidFill>
                  <a:srgbClr val="1B2430"/>
                </a:solidFill>
              </a:rPr>
              <a:t>HttpOnly</a:t>
            </a:r>
            <a:r>
              <a:rPr sz="1200">
                <a:solidFill>
                  <a:srgbClr val="1B2430"/>
                </a:solidFill>
              </a:rPr>
              <a:t> session (8 h) + IP login throttle. Per-user roles: none. Student developer / lecturer / CARE staff permissions: ?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56960DF-64D0-4C03-83D6-BFBCD49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517136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82FBC9A-11DD-4616-929B-1DDB7B6B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410D9C-C716-4F5D-8A34-A2274498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26864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Deletion &amp; backups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C9ABEB3-19A0-46AE-AE2C-F2E8886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08576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/>
              <a:t>Manual deletion APIs exist. Automatic 1-month deletion: ? · backup location and deletion evidence: ?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F73038F-F138-43CF-A6DA-AB45C52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468112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6D09BAA-E074-4FD2-8A62-F68E3C61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77840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4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6B6398F-F9D4-4F18-9786-3F0F5BB2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77840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Research operations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F889722-6164-424A-8E38-298D596D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559552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200"/>
              <a:t>UI currently records opt-in. Cohort opt-out control: ? · CARE de-identification/export: ? · RDS transfer: ? · incident plan: ? · code/IP wording: ?</a:t>
            </a:r>
          </a:p>
        </p:txBody>
      </p:sp>
    </p:spTree>
    <p:extLst>
      <p:ext uri="{BB962C8B-B14F-4D97-AF65-F5344CB8AC3E}">
        <p14:creationId xmlns:p14="http://schemas.microsoft.com/office/powerpoint/2010/main" val="2112549670"/>
      </p:ext>
    </p:extLst>
  </p:cSld>
</p:sld>
</file>

<file path=ppt/theme/theme1.xml><?xml version="1.0" encoding="utf-8"?>
<a:theme xmlns:a="http://schemas.openxmlformats.org/drawingml/2006/main" name="Office Theme">
  <a:themeElements>
    <a:clrScheme name="Rainbow">
      <a:dk1>
        <a:srgbClr val="000000"/>
      </a:dk1>
      <a:lt1>
        <a:srgbClr val="FFFFFF"/>
      </a:lt1>
      <a:dk2>
        <a:srgbClr val="FE8429"/>
      </a:dk2>
      <a:lt2>
        <a:srgbClr val="24A57F"/>
      </a:lt2>
      <a:accent1>
        <a:srgbClr val="FA3A48"/>
      </a:accent1>
      <a:accent2>
        <a:srgbClr val="FDB80F"/>
      </a:accent2>
      <a:accent3>
        <a:srgbClr val="1EA24E"/>
      </a:accent3>
      <a:accent4>
        <a:srgbClr val="21A5A5"/>
      </a:accent4>
      <a:accent5>
        <a:srgbClr val="248EFD"/>
      </a:accent5>
      <a:accent6>
        <a:srgbClr val="675DEC"/>
      </a:accent6>
      <a:hlink>
        <a:srgbClr val="AB5EEB"/>
      </a:hlink>
      <a:folHlink>
        <a:srgbClr val="E263EB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ainb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2026-07-29T07:11:18.2600000Z</dcterms:created>
  <dcterms:modified xsi:type="dcterms:W3CDTF">2026-07-29T07:11:18.2600000Z</dcterms:modified>
</coreProperties>
</file>